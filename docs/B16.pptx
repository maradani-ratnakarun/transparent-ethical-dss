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259" r:id="rId4"/>
    <p:sldId id="260" r:id="rId5"/>
    <p:sldId id="261" r:id="rId6"/>
    <p:sldId id="262" r:id="rId7"/>
    <p:sldId id="263" r:id="rId8"/>
    <p:sldId id="264" r:id="rId9"/>
    <p:sldId id="265" r:id="rId10"/>
    <p:sldId id="268" r:id="rId11"/>
    <p:sldId id="274" r:id="rId12"/>
    <p:sldId id="275" r:id="rId13"/>
    <p:sldId id="269" r:id="rId14"/>
    <p:sldId id="278" r:id="rId15"/>
    <p:sldId id="283" r:id="rId16"/>
    <p:sldId id="270" r:id="rId17"/>
    <p:sldId id="276" r:id="rId18"/>
    <p:sldId id="277" r:id="rId19"/>
    <p:sldId id="271" r:id="rId20"/>
    <p:sldId id="273" r:id="rId21"/>
    <p:sldId id="267" r:id="rId22"/>
    <p:sldId id="272"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3" d="100"/>
          <a:sy n="83" d="100"/>
        </p:scale>
        <p:origin x="68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2A124D-45D5-483B-BF66-4DBC2E6F3954}" type="datetimeFigureOut">
              <a:rPr lang="en-IN" smtClean="0"/>
              <a:pPr/>
              <a:t>25-05-2026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744713-15A5-4A89-9DFF-020F53F6E88A}" type="slidenum">
              <a:rPr lang="en-IN" smtClean="0"/>
              <a:pPr/>
              <a:t>‹#›</a:t>
            </a:fld>
            <a:endParaRPr lang="en-IN" dirty="0"/>
          </a:p>
        </p:txBody>
      </p:sp>
    </p:spTree>
    <p:extLst>
      <p:ext uri="{BB962C8B-B14F-4D97-AF65-F5344CB8AC3E}">
        <p14:creationId xmlns:p14="http://schemas.microsoft.com/office/powerpoint/2010/main" val="2381518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2744713-15A5-4A89-9DFF-020F53F6E88A}" type="slidenum">
              <a:rPr lang="en-IN" smtClean="0"/>
              <a:pPr/>
              <a:t>10</a:t>
            </a:fld>
            <a:endParaRPr lang="en-IN" dirty="0"/>
          </a:p>
        </p:txBody>
      </p:sp>
    </p:spTree>
    <p:extLst>
      <p:ext uri="{BB962C8B-B14F-4D97-AF65-F5344CB8AC3E}">
        <p14:creationId xmlns:p14="http://schemas.microsoft.com/office/powerpoint/2010/main" val="3757027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BF0D1D-269C-2BF9-0666-2D1E1AE42E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038A3DA-A96A-3753-27CE-7154DF2CB0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EED775C-3E4D-832B-3F1A-04E501213F17}"/>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2CAB9581-7F3C-F418-4689-47B406DAB9A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10F3264A-7B82-3018-B3BC-095CA1799B4D}"/>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271966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856C9D-166B-698F-4DA6-1AE624D6D1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94A33BF-1632-D4AF-4E68-BA3D905D89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59D7AD3-456A-F224-00A9-813B59AB0982}"/>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0733ACF0-767E-A052-0860-9E42B1403EA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2783654F-905A-11E7-E0EF-64981AB08BCE}"/>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3951066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6A9325-84B3-402A-259E-D64A139E0E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D77AC64-BCC0-1D46-1416-E9B50D12DC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8023152-A34A-8B38-65D2-71036FA3C25D}"/>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FEC4DDE1-FB3E-C048-A530-13FBB705599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A83DA08D-6921-F28A-1963-3A704B757BE1}"/>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2458125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3E0265-0F2F-728F-9E37-C601126F7F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C3A787D-7470-5E32-2533-FEC162E94E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01A598E-DFD9-E55A-8F31-80FC742FE4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A000AACA-FA1D-C8FA-19AB-99B2DE9F8DEB}"/>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6" name="Footer Placeholder 5">
            <a:extLst>
              <a:ext uri="{FF2B5EF4-FFF2-40B4-BE49-F238E27FC236}">
                <a16:creationId xmlns:a16="http://schemas.microsoft.com/office/drawing/2014/main" xmlns="" id="{4AFA9E4D-0837-CD24-B680-20ADF8DED25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388C8454-375D-4858-9033-BB76F6267F81}"/>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82975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51BC8F-EFFE-372C-2C91-5F6841AEC4F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848AA4-13E7-656A-EDCE-3D219247E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F19CF26-0FA4-D0A1-5CB5-170EFA2A99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C7FC007F-9375-6251-FD88-6214500D45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E98324C-D663-EE8D-43CE-C89AE2E3C5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464068E8-DD54-950E-B08C-82B4438B7E52}"/>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8" name="Footer Placeholder 7">
            <a:extLst>
              <a:ext uri="{FF2B5EF4-FFF2-40B4-BE49-F238E27FC236}">
                <a16:creationId xmlns:a16="http://schemas.microsoft.com/office/drawing/2014/main" xmlns="" id="{B7F5AF9B-983F-2395-3063-070D64E58649}"/>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D2AC9629-B34C-06AD-2BC4-D9D82FBBA736}"/>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39410226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446DDC-A0DE-DF32-29DF-4C6AC87BE9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718B8A12-6F6D-9260-01B1-53F4F91D5E65}"/>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4" name="Footer Placeholder 3">
            <a:extLst>
              <a:ext uri="{FF2B5EF4-FFF2-40B4-BE49-F238E27FC236}">
                <a16:creationId xmlns:a16="http://schemas.microsoft.com/office/drawing/2014/main" xmlns="" id="{11257AA4-D5D0-4402-846A-634B64E2548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411E42EE-FFD0-908E-4608-612E193E6306}"/>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1456823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C3179E0-B813-FF78-D3F6-97A4FB5EB089}"/>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3" name="Footer Placeholder 2">
            <a:extLst>
              <a:ext uri="{FF2B5EF4-FFF2-40B4-BE49-F238E27FC236}">
                <a16:creationId xmlns:a16="http://schemas.microsoft.com/office/drawing/2014/main" xmlns="" id="{D8C01A81-2ADE-E71D-0E75-1C63F056DE29}"/>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3E22758D-EC4F-E703-AC08-78AC2040208F}"/>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652093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413D77-F1B2-E18A-C338-650E214FE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2F2D672-F340-88C3-5E90-BAB3B1A160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5E336608-ABD3-BD05-0D8D-D39FDA39B8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B06F640-87AD-35BC-09EC-F029E76D791C}"/>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6" name="Footer Placeholder 5">
            <a:extLst>
              <a:ext uri="{FF2B5EF4-FFF2-40B4-BE49-F238E27FC236}">
                <a16:creationId xmlns:a16="http://schemas.microsoft.com/office/drawing/2014/main" xmlns="" id="{989CFA4C-D78D-6892-61A2-206529EC937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AC482B2E-9D0D-4E3D-E6E9-806E65D195C8}"/>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188652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47D33A-0C68-88CC-9D24-F9A2905FBA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7568DA20-24F0-3E0D-52D6-6D691E5705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xmlns="" id="{7E217CE1-D2A7-4CD8-42D3-53AC695E7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9E32285-AADF-8675-870B-FA914212ECBC}"/>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6" name="Footer Placeholder 5">
            <a:extLst>
              <a:ext uri="{FF2B5EF4-FFF2-40B4-BE49-F238E27FC236}">
                <a16:creationId xmlns:a16="http://schemas.microsoft.com/office/drawing/2014/main" xmlns="" id="{025B4F55-267E-2792-9DE6-956E7BA1ADE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EEAD5321-6D5B-2DB9-F88E-C35936EA652D}"/>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3485262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2D55AE-D715-602D-96E3-757DE719C8F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FF802658-48C7-8847-8819-1004015106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7D9564F-54D8-AD11-1DFC-6ED4596F9EB6}"/>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DA7E5C92-500A-3683-5259-579C3C821D0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786787DF-C29E-2C96-129F-300E5EA54009}"/>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2581040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1D3810B-9CE4-7418-9DAA-3E3F002899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6AAC428-58F7-2093-347E-8A38D83255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956B3E8-CF38-0496-7276-B5DF33A31D62}"/>
              </a:ext>
            </a:extLst>
          </p:cNvPr>
          <p:cNvSpPr>
            <a:spLocks noGrp="1"/>
          </p:cNvSpPr>
          <p:nvPr>
            <p:ph type="dt" sz="half" idx="10"/>
          </p:nvPr>
        </p:nvSpPr>
        <p:spPr/>
        <p:txBody>
          <a:body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755361DF-4F1A-F104-D53C-DDAA2F8C53C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23BE2FD0-73F7-5D05-7EEC-C22BD5ECC14D}"/>
              </a:ext>
            </a:extLst>
          </p:cNvPr>
          <p:cNvSpPr>
            <a:spLocks noGrp="1"/>
          </p:cNvSpPr>
          <p:nvPr>
            <p:ph type="sldNum" sz="quarter" idx="12"/>
          </p:nvPr>
        </p:nvSpPr>
        <p:spPr/>
        <p:txBody>
          <a:body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667788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75F8B8B-4BF9-B16A-696F-369E754FF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C2769945-8042-E883-EA64-C18EEFF1BE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C1F260F-B46A-5D01-4B19-5976053AC7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210DDF-DA9B-4DF3-958F-93AE7917D26D}" type="datetimeFigureOut">
              <a:rPr lang="en-IN" smtClean="0"/>
              <a:pPr/>
              <a:t>25-05-2026</a:t>
            </a:fld>
            <a:endParaRPr lang="en-IN" dirty="0"/>
          </a:p>
        </p:txBody>
      </p:sp>
      <p:sp>
        <p:nvSpPr>
          <p:cNvPr id="5" name="Footer Placeholder 4">
            <a:extLst>
              <a:ext uri="{FF2B5EF4-FFF2-40B4-BE49-F238E27FC236}">
                <a16:creationId xmlns:a16="http://schemas.microsoft.com/office/drawing/2014/main" xmlns="" id="{118DBCB5-C202-808D-8291-F49A9702CC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xmlns="" id="{3F49DB86-520C-0152-DDFA-A3807CAC4D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D9A363-14A1-4581-9CB8-5203D0487324}" type="slidenum">
              <a:rPr lang="en-IN" smtClean="0"/>
              <a:pPr/>
              <a:t>‹#›</a:t>
            </a:fld>
            <a:endParaRPr lang="en-IN" dirty="0"/>
          </a:p>
        </p:txBody>
      </p:sp>
    </p:spTree>
    <p:extLst>
      <p:ext uri="{BB962C8B-B14F-4D97-AF65-F5344CB8AC3E}">
        <p14:creationId xmlns:p14="http://schemas.microsoft.com/office/powerpoint/2010/main" val="40159662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48+ Free Powerpoint Backgrounds">
            <a:extLst>
              <a:ext uri="{FF2B5EF4-FFF2-40B4-BE49-F238E27FC236}">
                <a16:creationId xmlns:a16="http://schemas.microsoft.com/office/drawing/2014/main" xmlns="" id="{036EBD9B-AB65-C4C3-C89A-95975A0F9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0" descr="C:\Users\My world\Pictures\sircrrlogo.png">
            <a:extLst>
              <a:ext uri="{FF2B5EF4-FFF2-40B4-BE49-F238E27FC236}">
                <a16:creationId xmlns:a16="http://schemas.microsoft.com/office/drawing/2014/main" xmlns="" id="{759A0A78-A9AB-0580-CDB5-83AAD6B8D1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962" y="886180"/>
            <a:ext cx="1374950" cy="1318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DA93ACD4-1037-FA0F-060F-B778F1BFB616}"/>
              </a:ext>
            </a:extLst>
          </p:cNvPr>
          <p:cNvSpPr txBox="1"/>
          <p:nvPr/>
        </p:nvSpPr>
        <p:spPr>
          <a:xfrm>
            <a:off x="1877730" y="1129681"/>
            <a:ext cx="8436540" cy="830997"/>
          </a:xfrm>
          <a:prstGeom prst="rect">
            <a:avLst/>
          </a:prstGeom>
          <a:noFill/>
        </p:spPr>
        <p:txBody>
          <a:bodyPr wrap="none" rtlCol="0">
            <a:spAutoFit/>
          </a:bodyPr>
          <a:lstStyle/>
          <a:p>
            <a:pPr algn="just"/>
            <a:r>
              <a:rPr lang="en-US" sz="2400" b="1" dirty="0">
                <a:latin typeface="Times New Roman" pitchFamily="18" charset="0"/>
                <a:ea typeface="Poppins Light" pitchFamily="34" charset="-122"/>
                <a:cs typeface="Times New Roman" pitchFamily="18" charset="0"/>
              </a:rPr>
              <a:t>SIR CR REDDY COLLEGE OF ENGINEERING, ELURU(A)</a:t>
            </a:r>
          </a:p>
          <a:p>
            <a:pPr algn="just"/>
            <a:r>
              <a:rPr lang="en-US" sz="2400" b="1" dirty="0">
                <a:latin typeface="Times New Roman" pitchFamily="18" charset="0"/>
                <a:cs typeface="Times New Roman" pitchFamily="18" charset="0"/>
              </a:rPr>
              <a:t>     DEPARTMENT OF INFORMATION TECHNOLOGY</a:t>
            </a:r>
          </a:p>
        </p:txBody>
      </p:sp>
      <p:sp>
        <p:nvSpPr>
          <p:cNvPr id="4" name="TextBox 3">
            <a:extLst>
              <a:ext uri="{FF2B5EF4-FFF2-40B4-BE49-F238E27FC236}">
                <a16:creationId xmlns:a16="http://schemas.microsoft.com/office/drawing/2014/main" xmlns="" id="{3A580EAE-41AD-0107-4390-F17CFD092AF7}"/>
              </a:ext>
            </a:extLst>
          </p:cNvPr>
          <p:cNvSpPr txBox="1"/>
          <p:nvPr/>
        </p:nvSpPr>
        <p:spPr>
          <a:xfrm>
            <a:off x="-190371" y="2828780"/>
            <a:ext cx="10504641" cy="830997"/>
          </a:xfrm>
          <a:prstGeom prst="rect">
            <a:avLst/>
          </a:prstGeom>
          <a:noFill/>
        </p:spPr>
        <p:txBody>
          <a:bodyPr wrap="square" rtlCol="0">
            <a:spAutoFit/>
          </a:bodyPr>
          <a:lstStyle/>
          <a:p>
            <a:pPr lvl="5" algn="just"/>
            <a:r>
              <a:rPr lang="en-US" sz="2400" b="1" dirty="0">
                <a:latin typeface="Times New Roman" pitchFamily="18" charset="0"/>
                <a:ea typeface="Poppins Light" pitchFamily="34" charset="-122"/>
                <a:cs typeface="Times New Roman" pitchFamily="18" charset="0"/>
              </a:rPr>
              <a:t>Implementation of an Explainable Deep Learning Model for 	Transparent and Ethical Decision Support Systems</a:t>
            </a:r>
            <a:endParaRPr lang="en-IN" sz="2400" dirty="0"/>
          </a:p>
        </p:txBody>
      </p:sp>
      <p:sp>
        <p:nvSpPr>
          <p:cNvPr id="5" name="TextBox 4">
            <a:extLst>
              <a:ext uri="{FF2B5EF4-FFF2-40B4-BE49-F238E27FC236}">
                <a16:creationId xmlns:a16="http://schemas.microsoft.com/office/drawing/2014/main" xmlns="" id="{02BCF003-5A87-800D-CA00-D71C1C90E4A6}"/>
              </a:ext>
            </a:extLst>
          </p:cNvPr>
          <p:cNvSpPr txBox="1"/>
          <p:nvPr/>
        </p:nvSpPr>
        <p:spPr>
          <a:xfrm>
            <a:off x="8157754" y="5115375"/>
            <a:ext cx="4034246" cy="2031325"/>
          </a:xfrm>
          <a:prstGeom prst="rect">
            <a:avLst/>
          </a:prstGeom>
          <a:noFill/>
        </p:spPr>
        <p:txBody>
          <a:bodyPr wrap="none" rtlCol="0">
            <a:spAutoFit/>
          </a:bodyPr>
          <a:lstStyle/>
          <a:p>
            <a:pPr algn="just"/>
            <a:r>
              <a:rPr lang="en-US" b="1" dirty="0">
                <a:latin typeface="Times New Roman" panose="02020603050405020304" pitchFamily="18" charset="0"/>
                <a:ea typeface="Poppins Light" pitchFamily="34" charset="-122"/>
                <a:cs typeface="Times New Roman" pitchFamily="18" charset="0"/>
              </a:rPr>
              <a:t>PRESENTED BY </a:t>
            </a:r>
            <a:r>
              <a:rPr lang="en-US" b="1" dirty="0" smtClean="0">
                <a:latin typeface="Times New Roman" panose="02020603050405020304" pitchFamily="18" charset="0"/>
                <a:ea typeface="Poppins Light" pitchFamily="34" charset="-122"/>
                <a:cs typeface="Times New Roman" pitchFamily="18" charset="0"/>
              </a:rPr>
              <a:t>:</a:t>
            </a:r>
          </a:p>
          <a:p>
            <a:pPr algn="just"/>
            <a:r>
              <a:rPr lang="en-US" dirty="0">
                <a:latin typeface="Times New Roman" pitchFamily="18" charset="0"/>
                <a:cs typeface="Times New Roman" pitchFamily="18" charset="0"/>
              </a:rPr>
              <a:t>M. RATNAKARUN – </a:t>
            </a:r>
            <a:r>
              <a:rPr lang="en-US" dirty="0" smtClean="0">
                <a:latin typeface="Times New Roman" pitchFamily="18" charset="0"/>
                <a:cs typeface="Times New Roman" pitchFamily="18" charset="0"/>
              </a:rPr>
              <a:t>22B81A1274</a:t>
            </a:r>
            <a:endParaRPr lang="en-US" b="1" dirty="0">
              <a:latin typeface="Times New Roman" panose="02020603050405020304" pitchFamily="18" charset="0"/>
              <a:ea typeface="Poppins Light" pitchFamily="34" charset="-122"/>
              <a:cs typeface="Times New Roman" pitchFamily="18" charset="0"/>
            </a:endParaRPr>
          </a:p>
          <a:p>
            <a:pPr algn="just"/>
            <a:r>
              <a:rPr lang="en-US" dirty="0">
                <a:latin typeface="Times New Roman" pitchFamily="18" charset="0"/>
                <a:cs typeface="Times New Roman" pitchFamily="18" charset="0"/>
              </a:rPr>
              <a:t>P. HARIKA – 22B81A1293</a:t>
            </a:r>
          </a:p>
          <a:p>
            <a:pPr algn="just"/>
            <a:r>
              <a:rPr lang="en-US" dirty="0">
                <a:latin typeface="Times New Roman" pitchFamily="18" charset="0"/>
                <a:cs typeface="Times New Roman" pitchFamily="18" charset="0"/>
              </a:rPr>
              <a:t>Y. KUNDANA KOTESH – 23B85A1212</a:t>
            </a:r>
          </a:p>
          <a:p>
            <a:pPr algn="just"/>
            <a:r>
              <a:rPr lang="en-US" dirty="0" smtClean="0">
                <a:latin typeface="Times New Roman" pitchFamily="18" charset="0"/>
                <a:cs typeface="Times New Roman" pitchFamily="18" charset="0"/>
              </a:rPr>
              <a:t>Y</a:t>
            </a:r>
            <a:r>
              <a:rPr lang="en-US" dirty="0">
                <a:latin typeface="Times New Roman" pitchFamily="18" charset="0"/>
                <a:cs typeface="Times New Roman" pitchFamily="18" charset="0"/>
              </a:rPr>
              <a:t>. MEGHANA – 22B81A12D0</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8B26BB98-7C0D-5BC3-AF45-F30A76DA5E45}"/>
              </a:ext>
            </a:extLst>
          </p:cNvPr>
          <p:cNvSpPr txBox="1"/>
          <p:nvPr/>
        </p:nvSpPr>
        <p:spPr>
          <a:xfrm>
            <a:off x="491221" y="5115375"/>
            <a:ext cx="2773018" cy="1200329"/>
          </a:xfrm>
          <a:prstGeom prst="rect">
            <a:avLst/>
          </a:prstGeom>
          <a:noFill/>
        </p:spPr>
        <p:txBody>
          <a:bodyPr wrap="square" rtlCol="0">
            <a:spAutoFit/>
          </a:bodyPr>
          <a:lstStyle/>
          <a:p>
            <a:pPr algn="just"/>
            <a:r>
              <a:rPr lang="en-US" b="1" dirty="0">
                <a:latin typeface="Times New Roman" panose="02020603050405020304" pitchFamily="18" charset="0"/>
                <a:ea typeface="Poppins Light" pitchFamily="34" charset="-122"/>
                <a:cs typeface="Times New Roman" pitchFamily="18" charset="0"/>
              </a:rPr>
              <a:t>GUIDED BY :</a:t>
            </a:r>
          </a:p>
          <a:p>
            <a:pPr algn="just"/>
            <a:r>
              <a:rPr lang="en-US" dirty="0">
                <a:latin typeface="Times New Roman" panose="02020603050405020304" pitchFamily="18" charset="0"/>
                <a:ea typeface="Poppins Light" pitchFamily="34" charset="-122"/>
                <a:cs typeface="Times New Roman" pitchFamily="18" charset="0"/>
              </a:rPr>
              <a:t>T. SATYA NAGAMANI</a:t>
            </a:r>
          </a:p>
          <a:p>
            <a:pPr algn="just"/>
            <a:r>
              <a:rPr lang="en-US" dirty="0">
                <a:latin typeface="Times New Roman" panose="02020603050405020304" pitchFamily="18" charset="0"/>
                <a:ea typeface="Poppins Light" pitchFamily="34" charset="-122"/>
                <a:cs typeface="Times New Roman" pitchFamily="18" charset="0"/>
              </a:rPr>
              <a:t>B.Tech, M.Tech, (Ph.D)</a:t>
            </a:r>
          </a:p>
          <a:p>
            <a:pPr algn="just"/>
            <a:r>
              <a:rPr lang="en-US" dirty="0">
                <a:latin typeface="Times New Roman" panose="02020603050405020304" pitchFamily="18" charset="0"/>
                <a:ea typeface="Poppins Light" pitchFamily="34" charset="-122"/>
                <a:cs typeface="Times New Roman" pitchFamily="18" charset="0"/>
              </a:rPr>
              <a:t>ASST. PROFESSOR</a:t>
            </a:r>
          </a:p>
        </p:txBody>
      </p:sp>
    </p:spTree>
    <p:extLst>
      <p:ext uri="{BB962C8B-B14F-4D97-AF65-F5344CB8AC3E}">
        <p14:creationId xmlns:p14="http://schemas.microsoft.com/office/powerpoint/2010/main" val="2837686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8559B8A0-6AA1-0EC9-6AAA-5875991FB5A4}"/>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AE0A7C39-D221-7230-83FB-CDBDE1AF2D84}"/>
              </a:ext>
            </a:extLst>
          </p:cNvPr>
          <p:cNvSpPr txBox="1"/>
          <p:nvPr/>
        </p:nvSpPr>
        <p:spPr>
          <a:xfrm>
            <a:off x="854766" y="964095"/>
            <a:ext cx="3788217"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C</a:t>
            </a:r>
            <a:r>
              <a:rPr lang="en" sz="3600" b="1" dirty="0">
                <a:latin typeface="Times New Roman" panose="02020603050405020304" pitchFamily="18" charset="0"/>
                <a:cs typeface="Times New Roman" panose="02020603050405020304" pitchFamily="18" charset="0"/>
              </a:rPr>
              <a:t>ontent Overview</a:t>
            </a:r>
            <a:endParaRPr lang="en-IN" sz="3600" dirty="0"/>
          </a:p>
        </p:txBody>
      </p:sp>
      <p:sp>
        <p:nvSpPr>
          <p:cNvPr id="4" name="TextBox 3">
            <a:extLst>
              <a:ext uri="{FF2B5EF4-FFF2-40B4-BE49-F238E27FC236}">
                <a16:creationId xmlns:a16="http://schemas.microsoft.com/office/drawing/2014/main" xmlns="" id="{DF2B9E87-CCA6-8847-9DCD-FA42D43A6101}"/>
              </a:ext>
            </a:extLst>
          </p:cNvPr>
          <p:cNvSpPr txBox="1"/>
          <p:nvPr/>
        </p:nvSpPr>
        <p:spPr>
          <a:xfrm>
            <a:off x="1925685" y="1610426"/>
            <a:ext cx="3313279" cy="4893647"/>
          </a:xfrm>
          <a:prstGeom prst="rect">
            <a:avLst/>
          </a:prstGeom>
          <a:noFill/>
        </p:spPr>
        <p:txBody>
          <a:bodyPr wrap="none" rtlCol="0">
            <a:spAutoFit/>
          </a:bodyPr>
          <a:lstStyle/>
          <a:p>
            <a:pPr algn="just"/>
            <a:r>
              <a:rPr lang="en-IN" sz="2400" dirty="0">
                <a:latin typeface="Times New Roman" panose="02020603050405020304" pitchFamily="18" charset="0"/>
                <a:cs typeface="Times New Roman" panose="02020603050405020304" pitchFamily="18" charset="0"/>
              </a:rPr>
              <a:t>1.Abstract</a:t>
            </a:r>
          </a:p>
          <a:p>
            <a:pPr algn="just"/>
            <a:r>
              <a:rPr lang="en-IN" sz="2400" dirty="0">
                <a:latin typeface="Times New Roman" panose="02020603050405020304" pitchFamily="18" charset="0"/>
                <a:cs typeface="Times New Roman" panose="02020603050405020304" pitchFamily="18" charset="0"/>
              </a:rPr>
              <a:t>2.Literature Review</a:t>
            </a:r>
          </a:p>
          <a:p>
            <a:pPr algn="just"/>
            <a:r>
              <a:rPr lang="en-IN" sz="2400" dirty="0">
                <a:latin typeface="Times New Roman" panose="02020603050405020304" pitchFamily="18" charset="0"/>
                <a:cs typeface="Times New Roman" panose="02020603050405020304" pitchFamily="18" charset="0"/>
              </a:rPr>
              <a:t>3.Problem statement</a:t>
            </a:r>
          </a:p>
          <a:p>
            <a:pPr algn="just"/>
            <a:r>
              <a:rPr lang="en-IN" sz="2400" dirty="0">
                <a:latin typeface="Times New Roman" panose="02020603050405020304" pitchFamily="18" charset="0"/>
                <a:cs typeface="Times New Roman" panose="02020603050405020304" pitchFamily="18" charset="0"/>
              </a:rPr>
              <a:t>4.Existing Methodology</a:t>
            </a:r>
          </a:p>
          <a:p>
            <a:pPr algn="just"/>
            <a:r>
              <a:rPr lang="en-IN" sz="2400" dirty="0">
                <a:latin typeface="Times New Roman" panose="02020603050405020304" pitchFamily="18" charset="0"/>
                <a:cs typeface="Times New Roman" panose="02020603050405020304" pitchFamily="18" charset="0"/>
              </a:rPr>
              <a:t>5.Proposed Methodology</a:t>
            </a:r>
          </a:p>
          <a:p>
            <a:pPr algn="just"/>
            <a:r>
              <a:rPr lang="en-IN" sz="2400" dirty="0">
                <a:latin typeface="Times New Roman" panose="02020603050405020304" pitchFamily="18" charset="0"/>
                <a:cs typeface="Times New Roman" panose="02020603050405020304" pitchFamily="18" charset="0"/>
              </a:rPr>
              <a:t>6.System Architecture</a:t>
            </a:r>
          </a:p>
          <a:p>
            <a:pPr algn="just"/>
            <a:r>
              <a:rPr lang="en-IN" sz="2400" dirty="0">
                <a:latin typeface="Times New Roman" panose="02020603050405020304" pitchFamily="18" charset="0"/>
                <a:cs typeface="Times New Roman" panose="02020603050405020304" pitchFamily="18" charset="0"/>
              </a:rPr>
              <a:t>7.Core System Modules</a:t>
            </a:r>
          </a:p>
          <a:p>
            <a:pPr algn="just"/>
            <a:r>
              <a:rPr lang="en-IN" sz="2400" dirty="0">
                <a:latin typeface="Times New Roman" panose="02020603050405020304" pitchFamily="18" charset="0"/>
                <a:cs typeface="Times New Roman" panose="02020603050405020304" pitchFamily="18" charset="0"/>
              </a:rPr>
              <a:t>8.Methodology</a:t>
            </a:r>
          </a:p>
          <a:p>
            <a:pPr algn="just"/>
            <a:r>
              <a:rPr lang="en-IN" sz="2400" dirty="0">
                <a:latin typeface="Times New Roman" panose="02020603050405020304" pitchFamily="18" charset="0"/>
                <a:cs typeface="Times New Roman" panose="02020603050405020304" pitchFamily="18" charset="0"/>
              </a:rPr>
              <a:t>9.Implementation Details</a:t>
            </a:r>
          </a:p>
          <a:p>
            <a:pPr algn="just"/>
            <a:r>
              <a:rPr lang="en-IN" sz="2400" dirty="0">
                <a:latin typeface="Times New Roman" panose="02020603050405020304" pitchFamily="18" charset="0"/>
                <a:cs typeface="Times New Roman" panose="02020603050405020304" pitchFamily="18" charset="0"/>
              </a:rPr>
              <a:t>10.Demonstration</a:t>
            </a:r>
          </a:p>
          <a:p>
            <a:pPr algn="just"/>
            <a:r>
              <a:rPr lang="en-IN" sz="2400" dirty="0">
                <a:latin typeface="Times New Roman" panose="02020603050405020304" pitchFamily="18" charset="0"/>
                <a:cs typeface="Times New Roman" panose="02020603050405020304" pitchFamily="18" charset="0"/>
              </a:rPr>
              <a:t>11.Testing and Validation</a:t>
            </a:r>
          </a:p>
          <a:p>
            <a:pPr algn="just"/>
            <a:r>
              <a:rPr lang="en-IN" sz="2400" dirty="0">
                <a:latin typeface="Times New Roman" panose="02020603050405020304" pitchFamily="18" charset="0"/>
                <a:cs typeface="Times New Roman" panose="02020603050405020304" pitchFamily="18" charset="0"/>
              </a:rPr>
              <a:t>12.Output Screens</a:t>
            </a:r>
          </a:p>
          <a:p>
            <a:pPr algn="just"/>
            <a:r>
              <a:rPr lang="en-IN" sz="2400" dirty="0">
                <a:latin typeface="Times New Roman" panose="02020603050405020304" pitchFamily="18" charset="0"/>
                <a:cs typeface="Times New Roman" panose="02020603050405020304" pitchFamily="18" charset="0"/>
              </a:rPr>
              <a:t>13.Conclusion</a:t>
            </a:r>
          </a:p>
        </p:txBody>
      </p:sp>
    </p:spTree>
    <p:extLst>
      <p:ext uri="{BB962C8B-B14F-4D97-AF65-F5344CB8AC3E}">
        <p14:creationId xmlns:p14="http://schemas.microsoft.com/office/powerpoint/2010/main" val="803448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48+ Free Powerpoint Backgrounds">
            <a:extLst>
              <a:ext uri="{FF2B5EF4-FFF2-40B4-BE49-F238E27FC236}">
                <a16:creationId xmlns:a16="http://schemas.microsoft.com/office/drawing/2014/main" xmlns="" id="{60170969-B775-78E8-D993-718B3C61B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75"/>
            <a:ext cx="12602374"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xmlns="" id="{97D5402A-9DBA-85B5-A330-EC62D6D33309}"/>
              </a:ext>
            </a:extLst>
          </p:cNvPr>
          <p:cNvSpPr txBox="1"/>
          <p:nvPr/>
        </p:nvSpPr>
        <p:spPr>
          <a:xfrm>
            <a:off x="823962" y="817781"/>
            <a:ext cx="1903085"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xmlns="" id="{3361DEFE-1958-3713-F77A-9840BC0ED71B}"/>
              </a:ext>
            </a:extLst>
          </p:cNvPr>
          <p:cNvSpPr txBox="1"/>
          <p:nvPr/>
        </p:nvSpPr>
        <p:spPr>
          <a:xfrm>
            <a:off x="1675022" y="1475335"/>
            <a:ext cx="8269791" cy="3539430"/>
          </a:xfrm>
          <a:prstGeom prst="rect">
            <a:avLst/>
          </a:prstGeom>
          <a:noFill/>
        </p:spPr>
        <p:txBody>
          <a:bodyPr wrap="square" rtlCol="0">
            <a:spAutoFit/>
          </a:bodyPr>
          <a:lstStyle/>
          <a:p>
            <a:pPr algn="just"/>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The project addresses the black-box nature of deep learning, which often lacks the transparency required for critical, high-stakes decisions. To solve this, we implemented an explainable deep learning framework that balances high predictive performance with robust interpretability. Our methodology integrates neural network architectures with post-hoc explanation techniques like SHAP and LIME to transform complex outputs into human-understandable justifications. Quantitatively, the system achieved competitive accuracy while qualitatively providing the rich explanatory insights necessary for ethical accountability. Ultimately, this work establishes transparency as a fundamental requirement for building trustworthy and responsible AI-driven decision support systems.</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65666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A8FEA22-6605-F23A-7467-5818EF0C3EDF}"/>
              </a:ext>
            </a:extLst>
          </p:cNvPr>
          <p:cNvPicPr>
            <a:picLocks noChangeAspect="1"/>
          </p:cNvPicPr>
          <p:nvPr/>
        </p:nvPicPr>
        <p:blipFill>
          <a:blip r:embed="rId2"/>
          <a:stretch>
            <a:fillRect/>
          </a:stretch>
        </p:blipFill>
        <p:spPr>
          <a:xfrm>
            <a:off x="0" y="0"/>
            <a:ext cx="12192000" cy="6858000"/>
          </a:xfrm>
          <a:prstGeom prst="rect">
            <a:avLst/>
          </a:prstGeom>
        </p:spPr>
        <p:style>
          <a:lnRef idx="2">
            <a:schemeClr val="accent1"/>
          </a:lnRef>
          <a:fillRef idx="1">
            <a:schemeClr val="lt1"/>
          </a:fillRef>
          <a:effectRef idx="0">
            <a:schemeClr val="accent1"/>
          </a:effectRef>
          <a:fontRef idx="minor">
            <a:schemeClr val="dk1"/>
          </a:fontRef>
        </p:style>
      </p:pic>
      <p:sp>
        <p:nvSpPr>
          <p:cNvPr id="3" name="TextBox 2">
            <a:extLst>
              <a:ext uri="{FF2B5EF4-FFF2-40B4-BE49-F238E27FC236}">
                <a16:creationId xmlns:a16="http://schemas.microsoft.com/office/drawing/2014/main" xmlns="" id="{AC4C8BB3-CCA8-427E-8EEF-538E7D501B6C}"/>
              </a:ext>
            </a:extLst>
          </p:cNvPr>
          <p:cNvSpPr txBox="1"/>
          <p:nvPr/>
        </p:nvSpPr>
        <p:spPr>
          <a:xfrm>
            <a:off x="662901" y="959063"/>
            <a:ext cx="3779881" cy="646331"/>
          </a:xfrm>
          <a:prstGeom prst="rect">
            <a:avLst/>
          </a:prstGeom>
          <a:noFill/>
          <a:ln>
            <a:noFill/>
          </a:ln>
        </p:spPr>
        <p:style>
          <a:lnRef idx="0">
            <a:scrgbClr r="0" g="0" b="0"/>
          </a:lnRef>
          <a:fillRef idx="0">
            <a:scrgbClr r="0" g="0" b="0"/>
          </a:fillRef>
          <a:effectRef idx="0">
            <a:scrgbClr r="0" g="0" b="0"/>
          </a:effectRef>
          <a:fontRef idx="minor">
            <a:schemeClr val="dk1"/>
          </a:fontRef>
        </p:style>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Literature Review</a:t>
            </a:r>
          </a:p>
        </p:txBody>
      </p:sp>
      <p:graphicFrame>
        <p:nvGraphicFramePr>
          <p:cNvPr id="4" name="Table 3">
            <a:extLst>
              <a:ext uri="{FF2B5EF4-FFF2-40B4-BE49-F238E27FC236}">
                <a16:creationId xmlns:a16="http://schemas.microsoft.com/office/drawing/2014/main" xmlns="" id="{CE16CF3D-0A4C-C191-38F0-773CA7E5EC73}"/>
              </a:ext>
            </a:extLst>
          </p:cNvPr>
          <p:cNvGraphicFramePr>
            <a:graphicFrameLocks noGrp="1"/>
          </p:cNvGraphicFramePr>
          <p:nvPr>
            <p:extLst>
              <p:ext uri="{D42A27DB-BD31-4B8C-83A1-F6EECF244321}">
                <p14:modId xmlns:p14="http://schemas.microsoft.com/office/powerpoint/2010/main" val="1195778441"/>
              </p:ext>
            </p:extLst>
          </p:nvPr>
        </p:nvGraphicFramePr>
        <p:xfrm>
          <a:off x="833377" y="1944549"/>
          <a:ext cx="10934218" cy="3819645"/>
        </p:xfrm>
        <a:graphic>
          <a:graphicData uri="http://schemas.openxmlformats.org/drawingml/2006/table">
            <a:tbl>
              <a:tblPr firstRow="1" bandRow="1">
                <a:tableStyleId>{69CF1AB2-1976-4502-BF36-3FF5EA218861}</a:tableStyleId>
              </a:tblPr>
              <a:tblGrid>
                <a:gridCol w="717187">
                  <a:extLst>
                    <a:ext uri="{9D8B030D-6E8A-4147-A177-3AD203B41FA5}">
                      <a16:colId xmlns:a16="http://schemas.microsoft.com/office/drawing/2014/main" xmlns="" val="20000"/>
                    </a:ext>
                  </a:extLst>
                </a:gridCol>
                <a:gridCol w="2090454">
                  <a:extLst>
                    <a:ext uri="{9D8B030D-6E8A-4147-A177-3AD203B41FA5}">
                      <a16:colId xmlns:a16="http://schemas.microsoft.com/office/drawing/2014/main" xmlns="" val="20001"/>
                    </a:ext>
                  </a:extLst>
                </a:gridCol>
                <a:gridCol w="962359">
                  <a:extLst>
                    <a:ext uri="{9D8B030D-6E8A-4147-A177-3AD203B41FA5}">
                      <a16:colId xmlns:a16="http://schemas.microsoft.com/office/drawing/2014/main" xmlns="" val="20002"/>
                    </a:ext>
                  </a:extLst>
                </a:gridCol>
                <a:gridCol w="2637218">
                  <a:extLst>
                    <a:ext uri="{9D8B030D-6E8A-4147-A177-3AD203B41FA5}">
                      <a16:colId xmlns:a16="http://schemas.microsoft.com/office/drawing/2014/main" xmlns="" val="20003"/>
                    </a:ext>
                  </a:extLst>
                </a:gridCol>
                <a:gridCol w="2369104">
                  <a:extLst>
                    <a:ext uri="{9D8B030D-6E8A-4147-A177-3AD203B41FA5}">
                      <a16:colId xmlns:a16="http://schemas.microsoft.com/office/drawing/2014/main" xmlns="" val="20004"/>
                    </a:ext>
                  </a:extLst>
                </a:gridCol>
                <a:gridCol w="2157896">
                  <a:extLst>
                    <a:ext uri="{9D8B030D-6E8A-4147-A177-3AD203B41FA5}">
                      <a16:colId xmlns:a16="http://schemas.microsoft.com/office/drawing/2014/main" xmlns="" val="20005"/>
                    </a:ext>
                  </a:extLst>
                </a:gridCol>
              </a:tblGrid>
              <a:tr h="662672">
                <a:tc>
                  <a:txBody>
                    <a:bodyPr/>
                    <a:lstStyle/>
                    <a:p>
                      <a:pPr algn="just"/>
                      <a:r>
                        <a:rPr lang="en-US" sz="1600" dirty="0">
                          <a:solidFill>
                            <a:schemeClr val="tx1"/>
                          </a:solidFill>
                          <a:latin typeface="Times New Roman" pitchFamily="18" charset="0"/>
                          <a:cs typeface="Times New Roman" pitchFamily="18" charset="0"/>
                        </a:rPr>
                        <a:t>S.No</a:t>
                      </a:r>
                    </a:p>
                  </a:txBody>
                  <a:tcPr/>
                </a:tc>
                <a:tc>
                  <a:txBody>
                    <a:bodyPr/>
                    <a:lstStyle/>
                    <a:p>
                      <a:pPr algn="just"/>
                      <a:r>
                        <a:rPr lang="en-US" sz="1600" dirty="0">
                          <a:solidFill>
                            <a:schemeClr val="tx1"/>
                          </a:solidFill>
                          <a:latin typeface="Times New Roman" pitchFamily="18" charset="0"/>
                          <a:cs typeface="Times New Roman" pitchFamily="18" charset="0"/>
                        </a:rPr>
                        <a:t>Author</a:t>
                      </a:r>
                    </a:p>
                  </a:txBody>
                  <a:tcPr/>
                </a:tc>
                <a:tc>
                  <a:txBody>
                    <a:bodyPr/>
                    <a:lstStyle/>
                    <a:p>
                      <a:pPr algn="just"/>
                      <a:r>
                        <a:rPr lang="en-US" sz="1600" dirty="0">
                          <a:solidFill>
                            <a:schemeClr val="tx1"/>
                          </a:solidFill>
                          <a:latin typeface="Times New Roman" pitchFamily="18" charset="0"/>
                          <a:cs typeface="Times New Roman" pitchFamily="18" charset="0"/>
                        </a:rPr>
                        <a:t>Year</a:t>
                      </a:r>
                    </a:p>
                  </a:txBody>
                  <a:tcPr/>
                </a:tc>
                <a:tc>
                  <a:txBody>
                    <a:bodyPr/>
                    <a:lstStyle/>
                    <a:p>
                      <a:pPr algn="just"/>
                      <a:r>
                        <a:rPr lang="en-US" sz="1600" dirty="0">
                          <a:solidFill>
                            <a:schemeClr val="tx1"/>
                          </a:solidFill>
                          <a:latin typeface="Times New Roman" pitchFamily="18" charset="0"/>
                          <a:cs typeface="Times New Roman" pitchFamily="18" charset="0"/>
                        </a:rPr>
                        <a:t>Algorithm Used</a:t>
                      </a:r>
                    </a:p>
                  </a:txBody>
                  <a:tcPr/>
                </a:tc>
                <a:tc>
                  <a:txBody>
                    <a:bodyPr/>
                    <a:lstStyle/>
                    <a:p>
                      <a:pPr algn="just"/>
                      <a:r>
                        <a:rPr lang="en-US" sz="1600" dirty="0">
                          <a:solidFill>
                            <a:schemeClr val="tx1"/>
                          </a:solidFill>
                          <a:latin typeface="Times New Roman" pitchFamily="18" charset="0"/>
                          <a:cs typeface="Times New Roman" pitchFamily="18" charset="0"/>
                        </a:rPr>
                        <a:t>Advantages</a:t>
                      </a:r>
                    </a:p>
                  </a:txBody>
                  <a:tcPr/>
                </a:tc>
                <a:tc>
                  <a:txBody>
                    <a:bodyPr/>
                    <a:lstStyle/>
                    <a:p>
                      <a:pPr algn="just"/>
                      <a:r>
                        <a:rPr lang="en-US" sz="1600" dirty="0">
                          <a:solidFill>
                            <a:schemeClr val="tx1"/>
                          </a:solidFill>
                          <a:latin typeface="Times New Roman" pitchFamily="18" charset="0"/>
                          <a:cs typeface="Times New Roman" pitchFamily="18" charset="0"/>
                        </a:rPr>
                        <a:t>Limitations</a:t>
                      </a:r>
                    </a:p>
                  </a:txBody>
                  <a:tcPr/>
                </a:tc>
                <a:extLst>
                  <a:ext uri="{0D108BD9-81ED-4DB2-BD59-A6C34878D82A}">
                    <a16:rowId xmlns:a16="http://schemas.microsoft.com/office/drawing/2014/main" xmlns="" val="10000"/>
                  </a:ext>
                </a:extLst>
              </a:tr>
              <a:tr h="793768">
                <a:tc>
                  <a:txBody>
                    <a:bodyPr/>
                    <a:lstStyle/>
                    <a:p>
                      <a:pPr algn="just"/>
                      <a:r>
                        <a:rPr lang="en-US" sz="1600" dirty="0">
                          <a:solidFill>
                            <a:schemeClr val="tx1"/>
                          </a:solidFill>
                          <a:latin typeface="Times New Roman" pitchFamily="18" charset="0"/>
                          <a:cs typeface="Times New Roman" pitchFamily="18" charset="0"/>
                        </a:rPr>
                        <a:t>1</a:t>
                      </a:r>
                    </a:p>
                  </a:txBody>
                  <a:tcPr/>
                </a:tc>
                <a:tc>
                  <a:txBody>
                    <a:bodyPr/>
                    <a:lstStyle/>
                    <a:p>
                      <a:pPr algn="just"/>
                      <a:r>
                        <a:rPr lang="en-US" sz="1600" dirty="0">
                          <a:solidFill>
                            <a:schemeClr val="tx1"/>
                          </a:solidFill>
                          <a:latin typeface="Times New Roman" panose="02020603050405020304" pitchFamily="18" charset="0"/>
                          <a:cs typeface="Times New Roman" panose="02020603050405020304" pitchFamily="18" charset="0"/>
                        </a:rPr>
                        <a:t>T.</a:t>
                      </a:r>
                      <a:r>
                        <a:rPr lang="en-US" sz="1600" baseline="0" dirty="0">
                          <a:solidFill>
                            <a:schemeClr val="tx1"/>
                          </a:solidFill>
                          <a:latin typeface="Times New Roman" panose="02020603050405020304" pitchFamily="18" charset="0"/>
                          <a:cs typeface="Times New Roman" panose="02020603050405020304" pitchFamily="18" charset="0"/>
                        </a:rPr>
                        <a:t> Vengatesh</a:t>
                      </a:r>
                      <a:endParaRPr lang="en-US" sz="1600" dirty="0">
                        <a:solidFill>
                          <a:schemeClr val="tx1"/>
                        </a:solidFill>
                        <a:latin typeface="Times New Roman" pitchFamily="18" charset="0"/>
                        <a:cs typeface="Times New Roman" pitchFamily="18" charset="0"/>
                      </a:endParaRPr>
                    </a:p>
                  </a:txBody>
                  <a:tcPr/>
                </a:tc>
                <a:tc>
                  <a:txBody>
                    <a:bodyPr/>
                    <a:lstStyle/>
                    <a:p>
                      <a:pPr algn="just"/>
                      <a:r>
                        <a:rPr lang="en-US" sz="1600" dirty="0">
                          <a:solidFill>
                            <a:schemeClr val="tx1"/>
                          </a:solidFill>
                          <a:latin typeface="Times New Roman" pitchFamily="18" charset="0"/>
                          <a:cs typeface="Times New Roman" pitchFamily="18" charset="0"/>
                        </a:rPr>
                        <a:t>2025</a:t>
                      </a:r>
                    </a:p>
                  </a:txBody>
                  <a:tcPr/>
                </a:tc>
                <a:tc>
                  <a:txBody>
                    <a:bodyPr/>
                    <a:lstStyle/>
                    <a:p>
                      <a:pPr lvl="0" algn="l"/>
                      <a:r>
                        <a:rPr lang="en-US" sz="1600" dirty="0">
                          <a:solidFill>
                            <a:schemeClr val="tx1"/>
                          </a:solidFill>
                          <a:latin typeface="Times New Roman" panose="02020603050405020304" pitchFamily="18" charset="0"/>
                          <a:cs typeface="Times New Roman" panose="02020603050405020304" pitchFamily="18" charset="0"/>
                        </a:rPr>
                        <a:t>SHAP, LIME, </a:t>
                      </a:r>
                      <a:r>
                        <a:rPr lang="en-US" sz="1600" baseline="0" dirty="0">
                          <a:solidFill>
                            <a:schemeClr val="tx1"/>
                          </a:solidFill>
                          <a:latin typeface="Times New Roman" panose="02020603050405020304" pitchFamily="18" charset="0"/>
                          <a:cs typeface="Times New Roman" panose="02020603050405020304" pitchFamily="18" charset="0"/>
                        </a:rPr>
                        <a:t>                 </a:t>
                      </a:r>
                      <a:r>
                        <a:rPr lang="en-US" sz="1600" dirty="0">
                          <a:solidFill>
                            <a:schemeClr val="tx1"/>
                          </a:solidFill>
                          <a:latin typeface="Times New Roman" pitchFamily="18" charset="0"/>
                          <a:cs typeface="Times New Roman" pitchFamily="18" charset="0"/>
                        </a:rPr>
                        <a:t>Attention Mechanism</a:t>
                      </a:r>
                    </a:p>
                  </a:txBody>
                  <a:tcPr/>
                </a:tc>
                <a:tc>
                  <a:txBody>
                    <a:bodyPr/>
                    <a:lstStyle/>
                    <a:p>
                      <a:pPr lvl="0" algn="l"/>
                      <a:r>
                        <a:rPr lang="en-US" sz="1600" dirty="0">
                          <a:solidFill>
                            <a:schemeClr val="tx1"/>
                          </a:solidFill>
                          <a:latin typeface="Times New Roman" panose="02020603050405020304" pitchFamily="18" charset="0"/>
                          <a:cs typeface="Times New Roman" panose="02020603050405020304" pitchFamily="18" charset="0"/>
                        </a:rPr>
                        <a:t>Enhances</a:t>
                      </a:r>
                      <a:r>
                        <a:rPr lang="en-US" sz="1600" baseline="0" dirty="0">
                          <a:solidFill>
                            <a:schemeClr val="tx1"/>
                          </a:solidFill>
                          <a:latin typeface="Times New Roman" panose="02020603050405020304" pitchFamily="18" charset="0"/>
                          <a:cs typeface="Times New Roman" panose="02020603050405020304" pitchFamily="18" charset="0"/>
                        </a:rPr>
                        <a:t> model transparency</a:t>
                      </a:r>
                      <a:endParaRPr lang="en-US" sz="1600" dirty="0">
                        <a:solidFill>
                          <a:schemeClr val="tx1"/>
                        </a:solidFill>
                        <a:latin typeface="Times New Roman" pitchFamily="18" charset="0"/>
                        <a:cs typeface="Times New Roman" pitchFamily="18" charset="0"/>
                      </a:endParaRPr>
                    </a:p>
                  </a:txBody>
                  <a:tcPr/>
                </a:tc>
                <a:tc>
                  <a:txBody>
                    <a:bodyPr/>
                    <a:lstStyle/>
                    <a:p>
                      <a:pPr algn="just"/>
                      <a:r>
                        <a:rPr lang="en-US" sz="1600" dirty="0">
                          <a:solidFill>
                            <a:schemeClr val="tx1"/>
                          </a:solidFill>
                          <a:latin typeface="Times New Roman" panose="02020603050405020304" pitchFamily="18" charset="0"/>
                          <a:cs typeface="Times New Roman" panose="02020603050405020304" pitchFamily="18" charset="0"/>
                        </a:rPr>
                        <a:t>Maintaining</a:t>
                      </a:r>
                      <a:r>
                        <a:rPr lang="en-US" sz="1600" baseline="0" dirty="0">
                          <a:solidFill>
                            <a:schemeClr val="tx1"/>
                          </a:solidFill>
                          <a:latin typeface="Times New Roman" panose="02020603050405020304" pitchFamily="18" charset="0"/>
                          <a:cs typeface="Times New Roman" panose="02020603050405020304" pitchFamily="18" charset="0"/>
                        </a:rPr>
                        <a:t> accuracy</a:t>
                      </a:r>
                      <a:endParaRPr lang="en-US" sz="1600"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xmlns="" val="10001"/>
                  </a:ext>
                </a:extLst>
              </a:tr>
              <a:tr h="690783">
                <a:tc>
                  <a:txBody>
                    <a:bodyPr/>
                    <a:lstStyle/>
                    <a:p>
                      <a:pPr algn="just"/>
                      <a:r>
                        <a:rPr lang="en-US" sz="1600" dirty="0">
                          <a:solidFill>
                            <a:schemeClr val="tx1"/>
                          </a:solidFill>
                          <a:latin typeface="Times New Roman" pitchFamily="18" charset="0"/>
                          <a:cs typeface="Times New Roman" pitchFamily="18" charset="0"/>
                        </a:rPr>
                        <a:t>2</a:t>
                      </a:r>
                    </a:p>
                  </a:txBody>
                  <a:tcPr/>
                </a:tc>
                <a:tc>
                  <a:txBody>
                    <a:bodyPr/>
                    <a:lstStyle/>
                    <a:p>
                      <a:pPr algn="just"/>
                      <a:r>
                        <a:rPr lang="en-US" sz="1600" dirty="0">
                          <a:solidFill>
                            <a:schemeClr val="tx1"/>
                          </a:solidFill>
                          <a:latin typeface="Times New Roman" panose="02020603050405020304" pitchFamily="18" charset="0"/>
                          <a:cs typeface="Times New Roman" panose="02020603050405020304" pitchFamily="18" charset="0"/>
                        </a:rPr>
                        <a:t>M.</a:t>
                      </a:r>
                      <a:r>
                        <a:rPr lang="en-US" sz="1600" baseline="0" dirty="0">
                          <a:solidFill>
                            <a:schemeClr val="tx1"/>
                          </a:solidFill>
                          <a:latin typeface="Times New Roman" panose="02020603050405020304" pitchFamily="18" charset="0"/>
                          <a:cs typeface="Times New Roman" panose="02020603050405020304" pitchFamily="18" charset="0"/>
                        </a:rPr>
                        <a:t> Salimparsa</a:t>
                      </a:r>
                      <a:endParaRPr lang="en-US" sz="1600" dirty="0">
                        <a:solidFill>
                          <a:schemeClr val="tx1"/>
                        </a:solidFill>
                        <a:latin typeface="Times New Roman" pitchFamily="18" charset="0"/>
                        <a:cs typeface="Times New Roman" pitchFamily="18" charset="0"/>
                      </a:endParaRPr>
                    </a:p>
                  </a:txBody>
                  <a:tcPr/>
                </a:tc>
                <a:tc>
                  <a:txBody>
                    <a:bodyPr/>
                    <a:lstStyle/>
                    <a:p>
                      <a:pPr algn="just"/>
                      <a:r>
                        <a:rPr lang="en-US" sz="1600" dirty="0">
                          <a:solidFill>
                            <a:schemeClr val="tx1"/>
                          </a:solidFill>
                          <a:latin typeface="Times New Roman" pitchFamily="18" charset="0"/>
                          <a:cs typeface="Times New Roman" pitchFamily="18" charset="0"/>
                        </a:rPr>
                        <a:t>2025</a:t>
                      </a:r>
                    </a:p>
                  </a:txBody>
                  <a:tcPr/>
                </a:tc>
                <a:tc>
                  <a:txBody>
                    <a:bodyPr/>
                    <a:lstStyle/>
                    <a:p>
                      <a:pPr algn="just"/>
                      <a:r>
                        <a:rPr lang="en-US" sz="1600" dirty="0">
                          <a:solidFill>
                            <a:schemeClr val="tx1"/>
                          </a:solidFill>
                          <a:latin typeface="Times New Roman" pitchFamily="18" charset="0"/>
                          <a:cs typeface="Times New Roman" pitchFamily="18" charset="0"/>
                        </a:rPr>
                        <a:t>XAI in Clinical DSS</a:t>
                      </a:r>
                    </a:p>
                  </a:txBody>
                  <a:tcPr/>
                </a:tc>
                <a:tc>
                  <a:txBody>
                    <a:bodyPr/>
                    <a:lstStyle/>
                    <a:p>
                      <a:pPr algn="just"/>
                      <a:r>
                        <a:rPr lang="en-US" sz="1600" dirty="0">
                          <a:solidFill>
                            <a:schemeClr val="tx1"/>
                          </a:solidFill>
                          <a:latin typeface="Times New Roman" pitchFamily="18" charset="0"/>
                          <a:cs typeface="Times New Roman" pitchFamily="18" charset="0"/>
                        </a:rPr>
                        <a:t>Identifies research gaps</a:t>
                      </a:r>
                    </a:p>
                  </a:txBody>
                  <a:tcPr/>
                </a:tc>
                <a:tc>
                  <a:txBody>
                    <a:bodyPr/>
                    <a:lstStyle/>
                    <a:p>
                      <a:pPr algn="l"/>
                      <a:r>
                        <a:rPr lang="en-US" sz="1600" dirty="0">
                          <a:solidFill>
                            <a:schemeClr val="tx1"/>
                          </a:solidFill>
                          <a:latin typeface="Times New Roman" pitchFamily="18" charset="0"/>
                          <a:cs typeface="Times New Roman" pitchFamily="18" charset="0"/>
                        </a:rPr>
                        <a:t>Lack of current solutions</a:t>
                      </a:r>
                    </a:p>
                  </a:txBody>
                  <a:tcPr/>
                </a:tc>
                <a:extLst>
                  <a:ext uri="{0D108BD9-81ED-4DB2-BD59-A6C34878D82A}">
                    <a16:rowId xmlns:a16="http://schemas.microsoft.com/office/drawing/2014/main" xmlns="" val="10002"/>
                  </a:ext>
                </a:extLst>
              </a:tr>
              <a:tr h="690783">
                <a:tc>
                  <a:txBody>
                    <a:bodyPr/>
                    <a:lstStyle/>
                    <a:p>
                      <a:pPr algn="just"/>
                      <a:r>
                        <a:rPr lang="en-US" sz="1600" dirty="0">
                          <a:solidFill>
                            <a:schemeClr val="tx1"/>
                          </a:solidFill>
                          <a:latin typeface="Times New Roman" pitchFamily="18" charset="0"/>
                          <a:cs typeface="Times New Roman" pitchFamily="18" charset="0"/>
                        </a:rPr>
                        <a:t>3</a:t>
                      </a:r>
                    </a:p>
                  </a:txBody>
                  <a:tcPr/>
                </a:tc>
                <a:tc>
                  <a:txBody>
                    <a:bodyPr/>
                    <a:lstStyle/>
                    <a:p>
                      <a:pPr algn="just"/>
                      <a:r>
                        <a:rPr lang="en-US" sz="1600" dirty="0">
                          <a:solidFill>
                            <a:schemeClr val="tx1"/>
                          </a:solidFill>
                          <a:latin typeface="Times New Roman" pitchFamily="18" charset="0"/>
                          <a:cs typeface="Times New Roman" pitchFamily="18" charset="0"/>
                        </a:rPr>
                        <a:t>T. Ahmad</a:t>
                      </a:r>
                    </a:p>
                  </a:txBody>
                  <a:tcPr/>
                </a:tc>
                <a:tc>
                  <a:txBody>
                    <a:bodyPr/>
                    <a:lstStyle/>
                    <a:p>
                      <a:pPr algn="just"/>
                      <a:r>
                        <a:rPr lang="en-US" sz="1600" dirty="0">
                          <a:solidFill>
                            <a:schemeClr val="tx1"/>
                          </a:solidFill>
                          <a:latin typeface="Times New Roman" pitchFamily="18" charset="0"/>
                          <a:cs typeface="Times New Roman" pitchFamily="18" charset="0"/>
                        </a:rPr>
                        <a:t>2024</a:t>
                      </a:r>
                    </a:p>
                  </a:txBody>
                  <a:tcPr/>
                </a:tc>
                <a:tc>
                  <a:txBody>
                    <a:bodyPr/>
                    <a:lstStyle/>
                    <a:p>
                      <a:pPr algn="just"/>
                      <a:r>
                        <a:rPr lang="en-US" sz="1600" dirty="0">
                          <a:solidFill>
                            <a:schemeClr val="tx1"/>
                          </a:solidFill>
                          <a:latin typeface="Times New Roman" pitchFamily="18" charset="0"/>
                          <a:cs typeface="Times New Roman" pitchFamily="18" charset="0"/>
                        </a:rPr>
                        <a:t>SHAP, LIME</a:t>
                      </a:r>
                    </a:p>
                  </a:txBody>
                  <a:tcPr/>
                </a:tc>
                <a:tc>
                  <a:txBody>
                    <a:bodyPr/>
                    <a:lstStyle/>
                    <a:p>
                      <a:pPr algn="l"/>
                      <a:r>
                        <a:rPr lang="en-US" sz="1600" dirty="0">
                          <a:solidFill>
                            <a:schemeClr val="tx1"/>
                          </a:solidFill>
                          <a:latin typeface="Times New Roman" pitchFamily="18" charset="0"/>
                          <a:cs typeface="Times New Roman" pitchFamily="18" charset="0"/>
                        </a:rPr>
                        <a:t>Builds trust in AI models</a:t>
                      </a:r>
                    </a:p>
                  </a:txBody>
                  <a:tcPr/>
                </a:tc>
                <a:tc>
                  <a:txBody>
                    <a:bodyPr/>
                    <a:lstStyle/>
                    <a:p>
                      <a:pPr algn="just"/>
                      <a:r>
                        <a:rPr lang="en-US" sz="1600" dirty="0">
                          <a:solidFill>
                            <a:schemeClr val="tx1"/>
                          </a:solidFill>
                          <a:latin typeface="Times New Roman" pitchFamily="18" charset="0"/>
                          <a:cs typeface="Times New Roman" pitchFamily="18" charset="0"/>
                        </a:rPr>
                        <a:t>Ethical concerns</a:t>
                      </a:r>
                    </a:p>
                  </a:txBody>
                  <a:tcPr/>
                </a:tc>
                <a:extLst>
                  <a:ext uri="{0D108BD9-81ED-4DB2-BD59-A6C34878D82A}">
                    <a16:rowId xmlns:a16="http://schemas.microsoft.com/office/drawing/2014/main" xmlns="" val="10003"/>
                  </a:ext>
                </a:extLst>
              </a:tr>
              <a:tr h="981639">
                <a:tc>
                  <a:txBody>
                    <a:bodyPr/>
                    <a:lstStyle/>
                    <a:p>
                      <a:pPr algn="just"/>
                      <a:r>
                        <a:rPr lang="en-US" sz="1600" dirty="0">
                          <a:solidFill>
                            <a:schemeClr val="tx1"/>
                          </a:solidFill>
                          <a:latin typeface="Times New Roman" pitchFamily="18" charset="0"/>
                          <a:cs typeface="Times New Roman" pitchFamily="18" charset="0"/>
                        </a:rPr>
                        <a:t>4</a:t>
                      </a:r>
                    </a:p>
                  </a:txBody>
                  <a:tcPr/>
                </a:tc>
                <a:tc>
                  <a:txBody>
                    <a:bodyPr/>
                    <a:lstStyle/>
                    <a:p>
                      <a:pPr algn="just"/>
                      <a:r>
                        <a:rPr lang="en-US" sz="1600" dirty="0">
                          <a:solidFill>
                            <a:schemeClr val="tx1"/>
                          </a:solidFill>
                          <a:latin typeface="Times New Roman" pitchFamily="18" charset="0"/>
                          <a:cs typeface="Times New Roman" pitchFamily="18" charset="0"/>
                        </a:rPr>
                        <a:t>G.K. Kostopoulos</a:t>
                      </a:r>
                    </a:p>
                  </a:txBody>
                  <a:tcPr/>
                </a:tc>
                <a:tc>
                  <a:txBody>
                    <a:bodyPr/>
                    <a:lstStyle/>
                    <a:p>
                      <a:pPr algn="just"/>
                      <a:r>
                        <a:rPr lang="en-US" sz="1600" dirty="0">
                          <a:solidFill>
                            <a:schemeClr val="tx1"/>
                          </a:solidFill>
                          <a:latin typeface="Times New Roman" pitchFamily="18" charset="0"/>
                          <a:cs typeface="Times New Roman" pitchFamily="18" charset="0"/>
                        </a:rPr>
                        <a:t>2024</a:t>
                      </a:r>
                    </a:p>
                  </a:txBody>
                  <a:tcPr/>
                </a:tc>
                <a:tc>
                  <a:txBody>
                    <a:bodyPr/>
                    <a:lstStyle/>
                    <a:p>
                      <a:pPr algn="just"/>
                      <a:r>
                        <a:rPr lang="en-US" sz="1600" dirty="0">
                          <a:solidFill>
                            <a:schemeClr val="tx1"/>
                          </a:solidFill>
                          <a:latin typeface="Times New Roman" pitchFamily="18" charset="0"/>
                          <a:cs typeface="Times New Roman" pitchFamily="18" charset="0"/>
                        </a:rPr>
                        <a:t>XAI Taxonomy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Times New Roman" pitchFamily="18" charset="0"/>
                          <a:cs typeface="Times New Roman" pitchFamily="18" charset="0"/>
                        </a:rPr>
                        <a:t>Proposes future research paths</a:t>
                      </a:r>
                    </a:p>
                    <a:p>
                      <a:pPr algn="just"/>
                      <a:endParaRPr lang="en-US" sz="1600" dirty="0">
                        <a:solidFill>
                          <a:schemeClr val="tx1"/>
                        </a:solidFill>
                        <a:latin typeface="Times New Roman" pitchFamily="18" charset="0"/>
                        <a:cs typeface="Times New Roman" pitchFamily="18" charset="0"/>
                      </a:endParaRPr>
                    </a:p>
                  </a:txBody>
                  <a:tcPr/>
                </a:tc>
                <a:tc>
                  <a:txBody>
                    <a:bodyPr/>
                    <a:lstStyle/>
                    <a:p>
                      <a:pPr algn="l"/>
                      <a:r>
                        <a:rPr lang="en-US" sz="1600" dirty="0">
                          <a:solidFill>
                            <a:schemeClr val="tx1"/>
                          </a:solidFill>
                          <a:latin typeface="Times New Roman" pitchFamily="18" charset="0"/>
                          <a:cs typeface="Times New Roman" pitchFamily="18" charset="0"/>
                        </a:rPr>
                        <a:t>Challenges in standardization</a:t>
                      </a:r>
                    </a:p>
                  </a:txBody>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07930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EBCAB09-6893-55F1-E652-F32C968F6BA3}"/>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F3F0845C-C9A3-AE4F-4ABB-B6CD63990AAD}"/>
              </a:ext>
            </a:extLst>
          </p:cNvPr>
          <p:cNvSpPr txBox="1"/>
          <p:nvPr/>
        </p:nvSpPr>
        <p:spPr>
          <a:xfrm>
            <a:off x="824947" y="914400"/>
            <a:ext cx="3985065" cy="646331"/>
          </a:xfrm>
          <a:prstGeom prst="rect">
            <a:avLst/>
          </a:prstGeom>
          <a:noFill/>
        </p:spPr>
        <p:txBody>
          <a:bodyPr wrap="none" rtlCol="0">
            <a:spAutoFit/>
          </a:bodyPr>
          <a:lstStyle/>
          <a:p>
            <a:pPr algn="just"/>
            <a:r>
              <a:rPr lang="en-US" sz="3600" b="1" dirty="0">
                <a:latin typeface="Times New Roman" panose="02020603050405020304" pitchFamily="18" charset="0"/>
                <a:ea typeface="Poppins Light" pitchFamily="34" charset="-122"/>
                <a:cs typeface="Times New Roman" panose="02020603050405020304" pitchFamily="18" charset="0"/>
              </a:rPr>
              <a:t>Problem Statement</a:t>
            </a:r>
            <a:endParaRPr lang="en-US"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4A5CB469-0B77-FA87-3EFF-8B90A2451550}"/>
              </a:ext>
            </a:extLst>
          </p:cNvPr>
          <p:cNvSpPr txBox="1"/>
          <p:nvPr/>
        </p:nvSpPr>
        <p:spPr>
          <a:xfrm>
            <a:off x="1401417" y="1811587"/>
            <a:ext cx="9432236" cy="163121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Traditional deep learning models operate as black boxes, providing accurate predictions without explaining the underlying logic. This lack of transparency prevents users from identifying hidden biases, verifying reliability, or complying with legal regulations like the right to explanation. Consequently, the inability to interpret model decisions creates a significant barrier to trust in critical sectors like healthcare and finance.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2548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3F53D46E-1615-D3E2-EAA4-2F5803557E4C}"/>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C344E171-BD4A-3B46-B924-B4AB53615614}"/>
              </a:ext>
            </a:extLst>
          </p:cNvPr>
          <p:cNvSpPr txBox="1"/>
          <p:nvPr/>
        </p:nvSpPr>
        <p:spPr>
          <a:xfrm>
            <a:off x="1335156" y="1779104"/>
            <a:ext cx="9521897" cy="286232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Current decision support systems primarily rely on standard deep learning architectures that focus almost exclusively on maximizing predictive accuracy and computational efficiency. These models operate as black boxes, where input data is processed through multiple hidden layers of neurons to produce an output without any associated reasoning or explanation. While effective at identifying complex patterns, these systems lack internal mechanisms to show which features influenced a specific result, making it impossible for users to audit the decision for bias, errors, or ethical inconsistencies. Consequently, the existing approach results in a take-it-or-leave-it scenario that fails to meet the transparency requirements necessary for high-stakes applications.</a:t>
            </a:r>
            <a:endParaRPr lang="en-IN" sz="2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E6992355-EAD0-7F2F-850D-50573B895D6A}"/>
              </a:ext>
            </a:extLst>
          </p:cNvPr>
          <p:cNvSpPr txBox="1"/>
          <p:nvPr/>
        </p:nvSpPr>
        <p:spPr>
          <a:xfrm>
            <a:off x="636104" y="914401"/>
            <a:ext cx="4656083"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Existing Methodology</a:t>
            </a:r>
          </a:p>
        </p:txBody>
      </p:sp>
    </p:spTree>
    <p:extLst>
      <p:ext uri="{BB962C8B-B14F-4D97-AF65-F5344CB8AC3E}">
        <p14:creationId xmlns:p14="http://schemas.microsoft.com/office/powerpoint/2010/main" val="739749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2E771C2-07CA-298B-9868-FA2FAF995EFE}"/>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F9842286-FECD-24DB-9F89-300F4B08AD05}"/>
              </a:ext>
            </a:extLst>
          </p:cNvPr>
          <p:cNvSpPr txBox="1"/>
          <p:nvPr/>
        </p:nvSpPr>
        <p:spPr>
          <a:xfrm>
            <a:off x="729726" y="974036"/>
            <a:ext cx="4728859"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Proposed Methodology</a:t>
            </a:r>
          </a:p>
        </p:txBody>
      </p:sp>
      <p:sp>
        <p:nvSpPr>
          <p:cNvPr id="4" name="TextBox 3">
            <a:extLst>
              <a:ext uri="{FF2B5EF4-FFF2-40B4-BE49-F238E27FC236}">
                <a16:creationId xmlns:a16="http://schemas.microsoft.com/office/drawing/2014/main" xmlns="" id="{32BAFABC-FA21-5F4D-D2FE-8F89A2576244}"/>
              </a:ext>
            </a:extLst>
          </p:cNvPr>
          <p:cNvSpPr txBox="1"/>
          <p:nvPr/>
        </p:nvSpPr>
        <p:spPr>
          <a:xfrm>
            <a:off x="1238492" y="1790536"/>
            <a:ext cx="9456515" cy="353943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	We propose an Explainable Deep Learning (XDL) framework designed to bridge the gap between high-performance predictive modeling and human interpretability. </a:t>
            </a:r>
          </a:p>
          <a:p>
            <a:pPr algn="just"/>
            <a:r>
              <a:rPr lang="en-US" sz="2000" dirty="0">
                <a:latin typeface="Times New Roman" panose="02020603050405020304" pitchFamily="18" charset="0"/>
                <a:cs typeface="Times New Roman" panose="02020603050405020304" pitchFamily="18" charset="0"/>
              </a:rPr>
              <a:t>	The system moves beyond traditional black-box limitations by incorporating post-hoc interpretability tools, specifically SHAP and LIME (Local Interpretable Model-agnostic Explanations), to quantify and visualize the influence of each input feature on the final output. To ensure ethical reliability, the framework includes a Transparent &amp; Ethical Audit module that performs real-time bias detection and fairness verification. Finally, these results and evidence-based justifications are presented through an intuitive decision support interface, enabling users to make transparent, informed, and verifiable decisions in high-stakes environments</a:t>
            </a:r>
            <a:r>
              <a:rPr lang="en-US" sz="24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427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Picture 114">
            <a:extLst>
              <a:ext uri="{FF2B5EF4-FFF2-40B4-BE49-F238E27FC236}">
                <a16:creationId xmlns:a16="http://schemas.microsoft.com/office/drawing/2014/main" xmlns="" id="{0FC385AD-8B6C-2677-7CF4-1E2C8AE27616}"/>
              </a:ext>
            </a:extLst>
          </p:cNvPr>
          <p:cNvPicPr>
            <a:picLocks noChangeAspect="1"/>
          </p:cNvPicPr>
          <p:nvPr/>
        </p:nvPicPr>
        <p:blipFill>
          <a:blip r:embed="rId2"/>
          <a:stretch>
            <a:fillRect/>
          </a:stretch>
        </p:blipFill>
        <p:spPr>
          <a:xfrm>
            <a:off x="0" y="0"/>
            <a:ext cx="12192000" cy="6858000"/>
          </a:xfrm>
          <a:prstGeom prst="rect">
            <a:avLst/>
          </a:prstGeom>
        </p:spPr>
      </p:pic>
      <p:sp>
        <p:nvSpPr>
          <p:cNvPr id="144" name="TextBox 143"/>
          <p:cNvSpPr txBox="1"/>
          <p:nvPr/>
        </p:nvSpPr>
        <p:spPr>
          <a:xfrm>
            <a:off x="493489" y="754743"/>
            <a:ext cx="4182107" cy="646331"/>
          </a:xfrm>
          <a:prstGeom prst="rect">
            <a:avLst/>
          </a:prstGeom>
          <a:noFill/>
        </p:spPr>
        <p:txBody>
          <a:bodyPr wrap="none" rtlCol="0">
            <a:spAutoFit/>
          </a:bodyPr>
          <a:lstStyle/>
          <a:p>
            <a:r>
              <a:rPr lang="en-US" sz="3600" b="1" dirty="0">
                <a:latin typeface="Times New Roman" pitchFamily="18" charset="0"/>
                <a:cs typeface="Times New Roman" pitchFamily="18" charset="0"/>
              </a:rPr>
              <a:t>System Architecture</a:t>
            </a:r>
          </a:p>
        </p:txBody>
      </p:sp>
      <p:grpSp>
        <p:nvGrpSpPr>
          <p:cNvPr id="53" name="Group 52"/>
          <p:cNvGrpSpPr/>
          <p:nvPr/>
        </p:nvGrpSpPr>
        <p:grpSpPr>
          <a:xfrm>
            <a:off x="1053799" y="1532273"/>
            <a:ext cx="10045626" cy="4446496"/>
            <a:chOff x="336331" y="294289"/>
            <a:chExt cx="8665558" cy="3573528"/>
          </a:xfrm>
        </p:grpSpPr>
        <p:sp>
          <p:nvSpPr>
            <p:cNvPr id="54" name="Rounded Rectangle 53"/>
            <p:cNvSpPr/>
            <p:nvPr/>
          </p:nvSpPr>
          <p:spPr>
            <a:xfrm>
              <a:off x="336331" y="3184634"/>
              <a:ext cx="1471448" cy="683173"/>
            </a:xfrm>
            <a:prstGeom prst="roundRect">
              <a:avLst/>
            </a:prstGeom>
            <a:solidFill>
              <a:srgbClr val="00C057"/>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Times New Roman" pitchFamily="18" charset="0"/>
                  <a:ea typeface="+mn-ea"/>
                  <a:cs typeface="Times New Roman" pitchFamily="18" charset="0"/>
                </a:rPr>
                <a:t>Data Preprocessing</a:t>
              </a:r>
            </a:p>
          </p:txBody>
        </p:sp>
        <p:sp>
          <p:nvSpPr>
            <p:cNvPr id="55" name="Rounded Rectangle 54"/>
            <p:cNvSpPr/>
            <p:nvPr/>
          </p:nvSpPr>
          <p:spPr>
            <a:xfrm>
              <a:off x="3562911" y="1418964"/>
              <a:ext cx="1660635" cy="977463"/>
            </a:xfrm>
            <a:prstGeom prst="roundRect">
              <a:avLst/>
            </a:prstGeom>
            <a:solidFill>
              <a:srgbClr val="0070C0"/>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Times New Roman" pitchFamily="18" charset="0"/>
                  <a:ea typeface="+mn-ea"/>
                  <a:cs typeface="Times New Roman" pitchFamily="18" charset="0"/>
                </a:rPr>
                <a:t>User Interface</a:t>
              </a:r>
            </a:p>
          </p:txBody>
        </p:sp>
        <p:grpSp>
          <p:nvGrpSpPr>
            <p:cNvPr id="56" name="Group 13"/>
            <p:cNvGrpSpPr/>
            <p:nvPr/>
          </p:nvGrpSpPr>
          <p:grpSpPr>
            <a:xfrm>
              <a:off x="3894083" y="294289"/>
              <a:ext cx="856597" cy="714700"/>
              <a:chOff x="3704897" y="273269"/>
              <a:chExt cx="856597" cy="714700"/>
            </a:xfrm>
          </p:grpSpPr>
          <p:sp>
            <p:nvSpPr>
              <p:cNvPr id="73" name="Oval 72"/>
              <p:cNvSpPr/>
              <p:nvPr/>
            </p:nvSpPr>
            <p:spPr>
              <a:xfrm>
                <a:off x="3951890" y="273269"/>
                <a:ext cx="357351" cy="336331"/>
              </a:xfrm>
              <a:prstGeom prst="ellipse">
                <a:avLst/>
              </a:prstGeom>
              <a:solidFill>
                <a:srgbClr val="1A1A22"/>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0313F"/>
                  </a:solidFill>
                  <a:effectLst/>
                  <a:uLnTx/>
                  <a:uFillTx/>
                  <a:latin typeface="Arial"/>
                  <a:ea typeface="+mn-ea"/>
                  <a:cs typeface="+mn-cs"/>
                </a:endParaRPr>
              </a:p>
            </p:txBody>
          </p:sp>
          <p:sp>
            <p:nvSpPr>
              <p:cNvPr id="74" name="Flowchart: Delay 73"/>
              <p:cNvSpPr/>
              <p:nvPr/>
            </p:nvSpPr>
            <p:spPr>
              <a:xfrm rot="16200000">
                <a:off x="3978169" y="404644"/>
                <a:ext cx="310053" cy="856597"/>
              </a:xfrm>
              <a:prstGeom prst="flowChartDelay">
                <a:avLst/>
              </a:prstGeom>
              <a:solidFill>
                <a:srgbClr val="1A1A22"/>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0313F"/>
                  </a:solidFill>
                  <a:effectLst/>
                  <a:uLnTx/>
                  <a:uFillTx/>
                  <a:latin typeface="Arial"/>
                  <a:ea typeface="+mn-ea"/>
                  <a:cs typeface="+mn-cs"/>
                </a:endParaRPr>
              </a:p>
            </p:txBody>
          </p:sp>
        </p:grpSp>
        <p:sp>
          <p:nvSpPr>
            <p:cNvPr id="57" name="TextBox 56"/>
            <p:cNvSpPr txBox="1"/>
            <p:nvPr/>
          </p:nvSpPr>
          <p:spPr>
            <a:xfrm>
              <a:off x="2385819" y="1629081"/>
              <a:ext cx="937803" cy="210249"/>
            </a:xfrm>
            <a:prstGeom prst="rect">
              <a:avLst/>
            </a:prstGeom>
            <a:noFill/>
          </p:spPr>
          <p:txBody>
            <a:bodyPr wrap="none" rtlCol="0">
              <a:spAutoFit/>
            </a:bodyPr>
            <a:lstStyle/>
            <a:p>
              <a:pPr marL="228600" marR="0" lvl="0" indent="-22860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1. Submits Data</a:t>
              </a:r>
            </a:p>
          </p:txBody>
        </p:sp>
        <p:cxnSp>
          <p:nvCxnSpPr>
            <p:cNvPr id="58" name="Elbow Connector 57"/>
            <p:cNvCxnSpPr>
              <a:stCxn id="55" idx="2"/>
              <a:endCxn id="54" idx="0"/>
            </p:cNvCxnSpPr>
            <p:nvPr/>
          </p:nvCxnSpPr>
          <p:spPr>
            <a:xfrm rot="5400000">
              <a:off x="2338539" y="1129943"/>
              <a:ext cx="788207" cy="3321174"/>
            </a:xfrm>
            <a:prstGeom prst="bentConnector3">
              <a:avLst>
                <a:gd name="adj1" fmla="val 50000"/>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sp>
          <p:nvSpPr>
            <p:cNvPr id="59" name="TextBox 58"/>
            <p:cNvSpPr txBox="1"/>
            <p:nvPr/>
          </p:nvSpPr>
          <p:spPr>
            <a:xfrm>
              <a:off x="1731860" y="2511979"/>
              <a:ext cx="946100" cy="210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2. </a:t>
              </a:r>
              <a:r>
                <a:rPr lang="en-US" sz="1100" kern="0" dirty="0">
                  <a:solidFill>
                    <a:sysClr val="windowText" lastClr="000000"/>
                  </a:solidFill>
                  <a:latin typeface="Times New Roman" pitchFamily="18" charset="0"/>
                  <a:cs typeface="Times New Roman" pitchFamily="18" charset="0"/>
                </a:rPr>
                <a:t>Send Request</a:t>
              </a:r>
              <a:endPar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endParaRPr>
            </a:p>
          </p:txBody>
        </p:sp>
        <p:sp>
          <p:nvSpPr>
            <p:cNvPr id="60" name="Rounded Rectangle 59"/>
            <p:cNvSpPr/>
            <p:nvPr/>
          </p:nvSpPr>
          <p:spPr>
            <a:xfrm>
              <a:off x="2727361" y="3179384"/>
              <a:ext cx="1471448" cy="683173"/>
            </a:xfrm>
            <a:prstGeom prst="roundRect">
              <a:avLst/>
            </a:prstGeom>
            <a:solidFill>
              <a:srgbClr val="00C057"/>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Times New Roman" pitchFamily="18" charset="0"/>
                  <a:ea typeface="+mn-ea"/>
                  <a:cs typeface="Times New Roman" pitchFamily="18" charset="0"/>
                </a:rPr>
                <a:t>Model Service</a:t>
              </a:r>
            </a:p>
          </p:txBody>
        </p:sp>
        <p:cxnSp>
          <p:nvCxnSpPr>
            <p:cNvPr id="61" name="Straight Arrow Connector 60"/>
            <p:cNvCxnSpPr>
              <a:stCxn id="54" idx="3"/>
              <a:endCxn id="60" idx="1"/>
            </p:cNvCxnSpPr>
            <p:nvPr/>
          </p:nvCxnSpPr>
          <p:spPr>
            <a:xfrm flipV="1">
              <a:off x="1807779" y="3520971"/>
              <a:ext cx="919582" cy="5250"/>
            </a:xfrm>
            <a:prstGeom prst="straightConnector1">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sp>
          <p:nvSpPr>
            <p:cNvPr id="62" name="TextBox 61"/>
            <p:cNvSpPr txBox="1"/>
            <p:nvPr/>
          </p:nvSpPr>
          <p:spPr>
            <a:xfrm>
              <a:off x="1786759" y="2932401"/>
              <a:ext cx="935420" cy="48233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3. Sends Preprocessed data</a:t>
              </a:r>
            </a:p>
          </p:txBody>
        </p:sp>
        <p:sp>
          <p:nvSpPr>
            <p:cNvPr id="63" name="Rounded Rectangle 62"/>
            <p:cNvSpPr/>
            <p:nvPr/>
          </p:nvSpPr>
          <p:spPr>
            <a:xfrm>
              <a:off x="5076351" y="3184644"/>
              <a:ext cx="1471448" cy="683173"/>
            </a:xfrm>
            <a:prstGeom prst="roundRect">
              <a:avLst/>
            </a:prstGeom>
            <a:solidFill>
              <a:srgbClr val="00C057"/>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Times New Roman" pitchFamily="18" charset="0"/>
                  <a:ea typeface="+mn-ea"/>
                  <a:cs typeface="Times New Roman" pitchFamily="18" charset="0"/>
                </a:rPr>
                <a:t>Explainability Service</a:t>
              </a:r>
            </a:p>
          </p:txBody>
        </p:sp>
        <p:cxnSp>
          <p:nvCxnSpPr>
            <p:cNvPr id="64" name="Straight Arrow Connector 63"/>
            <p:cNvCxnSpPr>
              <a:stCxn id="60" idx="3"/>
              <a:endCxn id="63" idx="1"/>
            </p:cNvCxnSpPr>
            <p:nvPr/>
          </p:nvCxnSpPr>
          <p:spPr>
            <a:xfrm>
              <a:off x="4198809" y="3520971"/>
              <a:ext cx="877542" cy="5260"/>
            </a:xfrm>
            <a:prstGeom prst="straightConnector1">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sp>
          <p:nvSpPr>
            <p:cNvPr id="65" name="TextBox 64"/>
            <p:cNvSpPr txBox="1"/>
            <p:nvPr/>
          </p:nvSpPr>
          <p:spPr>
            <a:xfrm>
              <a:off x="4246179" y="3100557"/>
              <a:ext cx="809297" cy="34629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4. Sends     Prediction</a:t>
              </a:r>
            </a:p>
          </p:txBody>
        </p:sp>
        <p:sp>
          <p:nvSpPr>
            <p:cNvPr id="66" name="TextBox 65"/>
            <p:cNvSpPr txBox="1"/>
            <p:nvPr/>
          </p:nvSpPr>
          <p:spPr>
            <a:xfrm>
              <a:off x="6526863" y="2994475"/>
              <a:ext cx="977519" cy="48233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5. Sends Results and Explanations</a:t>
              </a:r>
            </a:p>
          </p:txBody>
        </p:sp>
        <p:sp>
          <p:nvSpPr>
            <p:cNvPr id="67" name="Rounded Rectangle 66"/>
            <p:cNvSpPr/>
            <p:nvPr/>
          </p:nvSpPr>
          <p:spPr>
            <a:xfrm>
              <a:off x="7530441" y="3179394"/>
              <a:ext cx="1471448" cy="683173"/>
            </a:xfrm>
            <a:prstGeom prst="roundRect">
              <a:avLst/>
            </a:prstGeom>
            <a:solidFill>
              <a:srgbClr val="00C057"/>
            </a:solidFill>
            <a:ln w="25400" cap="flat" cmpd="sng" algn="ctr">
              <a:solidFill>
                <a:srgbClr val="1A1A2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FFFF"/>
                  </a:solidFill>
                  <a:effectLst/>
                  <a:uLnTx/>
                  <a:uFillTx/>
                  <a:latin typeface="Times New Roman" pitchFamily="18" charset="0"/>
                  <a:ea typeface="+mn-ea"/>
                  <a:cs typeface="Times New Roman" pitchFamily="18" charset="0"/>
                </a:rPr>
                <a:t>Audit Service</a:t>
              </a:r>
            </a:p>
          </p:txBody>
        </p:sp>
        <p:sp>
          <p:nvSpPr>
            <p:cNvPr id="68" name="TextBox 67"/>
            <p:cNvSpPr txBox="1"/>
            <p:nvPr/>
          </p:nvSpPr>
          <p:spPr>
            <a:xfrm>
              <a:off x="5969876" y="1650129"/>
              <a:ext cx="1237867" cy="210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6. Sends Final Results</a:t>
              </a:r>
            </a:p>
          </p:txBody>
        </p:sp>
        <p:sp>
          <p:nvSpPr>
            <p:cNvPr id="69" name="TextBox 68"/>
            <p:cNvSpPr txBox="1"/>
            <p:nvPr/>
          </p:nvSpPr>
          <p:spPr>
            <a:xfrm>
              <a:off x="3951888" y="1008997"/>
              <a:ext cx="615615" cy="21024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latin typeface="Times New Roman" pitchFamily="18" charset="0"/>
                  <a:cs typeface="Times New Roman" pitchFamily="18" charset="0"/>
                </a:rPr>
                <a:t>End User</a:t>
              </a:r>
            </a:p>
          </p:txBody>
        </p:sp>
        <p:cxnSp>
          <p:nvCxnSpPr>
            <p:cNvPr id="70" name="Elbow Connector 69"/>
            <p:cNvCxnSpPr>
              <a:stCxn id="74" idx="0"/>
              <a:endCxn id="55" idx="1"/>
            </p:cNvCxnSpPr>
            <p:nvPr/>
          </p:nvCxnSpPr>
          <p:spPr>
            <a:xfrm rot="10800000" flipV="1">
              <a:off x="3562911" y="853962"/>
              <a:ext cx="331172" cy="1053734"/>
            </a:xfrm>
            <a:prstGeom prst="bentConnector3">
              <a:avLst>
                <a:gd name="adj1" fmla="val 470528"/>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cxnSp>
          <p:nvCxnSpPr>
            <p:cNvPr id="71" name="Shape 70"/>
            <p:cNvCxnSpPr>
              <a:stCxn id="67" idx="0"/>
              <a:endCxn id="55" idx="3"/>
            </p:cNvCxnSpPr>
            <p:nvPr/>
          </p:nvCxnSpPr>
          <p:spPr>
            <a:xfrm rot="16200000" flipV="1">
              <a:off x="6109007" y="1022235"/>
              <a:ext cx="1271698" cy="3042619"/>
            </a:xfrm>
            <a:prstGeom prst="bentConnector2">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cxnSp>
          <p:nvCxnSpPr>
            <p:cNvPr id="72" name="Straight Arrow Connector 71"/>
            <p:cNvCxnSpPr>
              <a:stCxn id="63" idx="3"/>
              <a:endCxn id="67" idx="1"/>
            </p:cNvCxnSpPr>
            <p:nvPr/>
          </p:nvCxnSpPr>
          <p:spPr>
            <a:xfrm flipV="1">
              <a:off x="6547799" y="3520981"/>
              <a:ext cx="982642" cy="5250"/>
            </a:xfrm>
            <a:prstGeom prst="straightConnector1">
              <a:avLst/>
            </a:prstGeom>
            <a:noFill/>
            <a:ln w="25400" cap="flat" cmpd="sng" algn="ctr">
              <a:solidFill>
                <a:srgbClr val="1A1A22"/>
              </a:solidFill>
              <a:prstDash val="solid"/>
              <a:tailEnd type="arrow"/>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1632359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2281087-EEAF-FF61-C2F1-23F76F0957BC}"/>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066F1889-306C-A5B8-576E-A98336CB05FD}"/>
              </a:ext>
            </a:extLst>
          </p:cNvPr>
          <p:cNvSpPr txBox="1"/>
          <p:nvPr/>
        </p:nvSpPr>
        <p:spPr>
          <a:xfrm>
            <a:off x="740780" y="879676"/>
            <a:ext cx="4485202"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Core System Modules</a:t>
            </a:r>
          </a:p>
        </p:txBody>
      </p:sp>
      <p:sp>
        <p:nvSpPr>
          <p:cNvPr id="4" name="TextBox 3">
            <a:extLst>
              <a:ext uri="{FF2B5EF4-FFF2-40B4-BE49-F238E27FC236}">
                <a16:creationId xmlns:a16="http://schemas.microsoft.com/office/drawing/2014/main" xmlns="" id="{94C56A12-8471-B170-6C45-1BCC1231D5C1}"/>
              </a:ext>
            </a:extLst>
          </p:cNvPr>
          <p:cNvSpPr txBox="1"/>
          <p:nvPr/>
        </p:nvSpPr>
        <p:spPr>
          <a:xfrm>
            <a:off x="1076899" y="1526007"/>
            <a:ext cx="9779726" cy="707886"/>
          </a:xfrm>
          <a:prstGeom prst="rect">
            <a:avLst/>
          </a:prstGeom>
          <a:noFill/>
        </p:spPr>
        <p:txBody>
          <a:bodyPr wrap="square" rtlCol="0">
            <a:spAutoFit/>
          </a:bodyPr>
          <a:lstStyle/>
          <a:p>
            <a:pPr algn="just"/>
            <a:r>
              <a:rPr lang="en-US" altLang="en-US" sz="2000" dirty="0">
                <a:latin typeface="Times New Roman" panose="02020603050405020304" pitchFamily="18" charset="0"/>
                <a:cs typeface="Times New Roman" panose="02020603050405020304" pitchFamily="18" charset="0"/>
              </a:rPr>
              <a:t>The system is divided into functional modules that handle the lifecycle of a transparent decision support system.</a:t>
            </a:r>
          </a:p>
        </p:txBody>
      </p:sp>
      <p:sp>
        <p:nvSpPr>
          <p:cNvPr id="5" name="TextBox 4">
            <a:extLst>
              <a:ext uri="{FF2B5EF4-FFF2-40B4-BE49-F238E27FC236}">
                <a16:creationId xmlns:a16="http://schemas.microsoft.com/office/drawing/2014/main" xmlns="" id="{5B1B1CBC-AC92-F05F-F423-CA1F6162D276}"/>
              </a:ext>
            </a:extLst>
          </p:cNvPr>
          <p:cNvSpPr txBox="1"/>
          <p:nvPr/>
        </p:nvSpPr>
        <p:spPr>
          <a:xfrm>
            <a:off x="1076898" y="2405683"/>
            <a:ext cx="9765273" cy="3785652"/>
          </a:xfrm>
          <a:prstGeom prst="rect">
            <a:avLst/>
          </a:prstGeom>
          <a:noFill/>
        </p:spPr>
        <p:txBody>
          <a:bodyPr wrap="square" rtlCol="0">
            <a:spAutoFit/>
          </a:bodyPr>
          <a:lstStyle/>
          <a:p>
            <a:pPr marL="285750" lvl="0" indent="-285750" algn="just" eaLnBrk="0" fontAlgn="base" hangingPunct="0">
              <a:spcBef>
                <a:spcPct val="0"/>
              </a:spcBef>
              <a:spcAft>
                <a:spcPct val="0"/>
              </a:spcAft>
              <a:buClrTx/>
              <a:buSzTx/>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Data Management Module:</a:t>
            </a:r>
            <a:r>
              <a:rPr lang="en-US" altLang="en-US" sz="2000" dirty="0">
                <a:latin typeface="Times New Roman" panose="02020603050405020304" pitchFamily="18" charset="0"/>
                <a:cs typeface="Times New Roman" panose="02020603050405020304" pitchFamily="18" charset="0"/>
              </a:rPr>
              <a:t> Responsible for data collection, cleaning (handling missing values), and feature scaling for efficient training.</a:t>
            </a:r>
          </a:p>
          <a:p>
            <a:pPr marL="285750" indent="-285750" algn="just" eaLnBrk="0" fontAlgn="base" hangingPunct="0">
              <a:spcBef>
                <a:spcPct val="0"/>
              </a:spcBef>
              <a:spcAft>
                <a:spcPct val="0"/>
              </a:spcAft>
              <a:buClrTx/>
              <a:buSzTx/>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Deep Learning Model:</a:t>
            </a:r>
            <a:r>
              <a:rPr lang="en-US" altLang="en-US" sz="2000" dirty="0">
                <a:latin typeface="Times New Roman" panose="02020603050405020304" pitchFamily="18" charset="0"/>
                <a:cs typeface="Times New Roman" panose="02020603050405020304" pitchFamily="18" charset="0"/>
              </a:rPr>
              <a:t> The engine of the system (using DNN architectures) that performs pattern learning and prediction generation.</a:t>
            </a:r>
          </a:p>
          <a:p>
            <a:pPr marL="285750" lvl="0" indent="-285750" algn="just" eaLnBrk="0" fontAlgn="base" hangingPunct="0">
              <a:spcBef>
                <a:spcPct val="0"/>
              </a:spcBef>
              <a:spcAft>
                <a:spcPct val="0"/>
              </a:spcAft>
              <a:buClrTx/>
              <a:buSzTx/>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Explainability Module:</a:t>
            </a:r>
            <a:r>
              <a:rPr lang="en-US" altLang="en-US" sz="2000" dirty="0">
                <a:latin typeface="Times New Roman" panose="02020603050405020304" pitchFamily="18" charset="0"/>
                <a:cs typeface="Times New Roman" panose="02020603050405020304" pitchFamily="18" charset="0"/>
              </a:rPr>
              <a:t> The Glass-Box component that identifies feature importance using tools like SHAP, LIME, or attention mechanisms to reveal how inputs influenced the outcome.</a:t>
            </a:r>
          </a:p>
          <a:p>
            <a:pPr marL="285750" lvl="0" indent="-285750" algn="just" eaLnBrk="0" fontAlgn="base" hangingPunct="0">
              <a:spcBef>
                <a:spcPct val="0"/>
              </a:spcBef>
              <a:spcAft>
                <a:spcPct val="0"/>
              </a:spcAft>
              <a:buClrTx/>
              <a:buSzTx/>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User Interface (UI) Module:</a:t>
            </a:r>
            <a:r>
              <a:rPr lang="en-US" altLang="en-US" sz="2000" dirty="0">
                <a:latin typeface="Times New Roman" panose="02020603050405020304" pitchFamily="18" charset="0"/>
                <a:cs typeface="Times New Roman" panose="02020603050405020304" pitchFamily="18" charset="0"/>
              </a:rPr>
              <a:t> The interaction layer that displays final results alongside visual explanations for the user.</a:t>
            </a:r>
          </a:p>
          <a:p>
            <a:pPr marL="285750" lvl="0" indent="-285750" algn="just" eaLnBrk="0" fontAlgn="base" hangingPunct="0">
              <a:spcBef>
                <a:spcPct val="0"/>
              </a:spcBef>
              <a:spcAft>
                <a:spcPct val="0"/>
              </a:spcAft>
              <a:buClrTx/>
              <a:buSzTx/>
              <a:buFont typeface="Wingdings" panose="05000000000000000000" pitchFamily="2" charset="2"/>
              <a:buChar char="q"/>
            </a:pPr>
            <a:r>
              <a:rPr lang="en-US" altLang="en-US" sz="2000" b="1" dirty="0">
                <a:latin typeface="Times New Roman" panose="02020603050405020304" pitchFamily="18" charset="0"/>
                <a:cs typeface="Times New Roman" panose="02020603050405020304" pitchFamily="18" charset="0"/>
              </a:rPr>
              <a:t>Audit &amp; Compliance Module:</a:t>
            </a:r>
            <a:r>
              <a:rPr lang="en-US" altLang="en-US" sz="2000" dirty="0">
                <a:latin typeface="Times New Roman" panose="02020603050405020304" pitchFamily="18" charset="0"/>
                <a:cs typeface="Times New Roman" panose="02020603050405020304" pitchFamily="18" charset="0"/>
              </a:rPr>
              <a:t> Ensures ethical use by performing fairness checks for bias and generating performance reports for regulatory accountability.</a:t>
            </a:r>
          </a:p>
          <a:p>
            <a:endParaRPr lang="en-IN" sz="2000" dirty="0"/>
          </a:p>
        </p:txBody>
      </p:sp>
    </p:spTree>
    <p:extLst>
      <p:ext uri="{BB962C8B-B14F-4D97-AF65-F5344CB8AC3E}">
        <p14:creationId xmlns:p14="http://schemas.microsoft.com/office/powerpoint/2010/main" val="413102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04757E09-DFE8-5EDE-A9A2-7F9CBD973F90}"/>
              </a:ext>
            </a:extLst>
          </p:cNvPr>
          <p:cNvPicPr>
            <a:picLocks noChangeAspect="1"/>
          </p:cNvPicPr>
          <p:nvPr/>
        </p:nvPicPr>
        <p:blipFill>
          <a:blip r:embed="rId3"/>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442A56D1-4523-7CD8-358C-CEC73E5BA48D}"/>
              </a:ext>
            </a:extLst>
          </p:cNvPr>
          <p:cNvSpPr txBox="1"/>
          <p:nvPr/>
        </p:nvSpPr>
        <p:spPr>
          <a:xfrm>
            <a:off x="585074" y="969315"/>
            <a:ext cx="9940413" cy="646331"/>
          </a:xfrm>
          <a:prstGeom prst="rect">
            <a:avLst/>
          </a:prstGeom>
          <a:noFill/>
        </p:spPr>
        <p:txBody>
          <a:bodyPr wrap="square" rtlCol="0">
            <a:spAutoFit/>
          </a:bodyPr>
          <a:lstStyle/>
          <a:p>
            <a:pPr algn="just"/>
            <a:r>
              <a:rPr lang="en-IN" sz="3600" b="1" dirty="0">
                <a:latin typeface="Times New Roman" panose="02020603050405020304" pitchFamily="18" charset="0"/>
                <a:cs typeface="Times New Roman" panose="02020603050405020304" pitchFamily="18" charset="0"/>
              </a:rPr>
              <a:t>Methodology – Data Management</a:t>
            </a:r>
          </a:p>
        </p:txBody>
      </p:sp>
      <p:sp>
        <p:nvSpPr>
          <p:cNvPr id="4" name="TextBox 3">
            <a:extLst>
              <a:ext uri="{FF2B5EF4-FFF2-40B4-BE49-F238E27FC236}">
                <a16:creationId xmlns:a16="http://schemas.microsoft.com/office/drawing/2014/main" xmlns="" id="{F69A557A-43B9-1691-155B-1F8152C4B8B0}"/>
              </a:ext>
            </a:extLst>
          </p:cNvPr>
          <p:cNvSpPr txBox="1"/>
          <p:nvPr/>
        </p:nvSpPr>
        <p:spPr>
          <a:xfrm>
            <a:off x="871183" y="1753297"/>
            <a:ext cx="9555982" cy="3170099"/>
          </a:xfrm>
          <a:prstGeom prst="rect">
            <a:avLst/>
          </a:prstGeom>
          <a:noFill/>
        </p:spPr>
        <p:txBody>
          <a:bodyPr wrap="square" rtlCol="0">
            <a:spAutoFit/>
          </a:bodyPr>
          <a:lstStyle/>
          <a:p>
            <a:pPr marL="285750" indent="-28575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methodology begins with the Data Management Module, where structured input data is collected from the dataset. </a:t>
            </a:r>
          </a:p>
          <a:p>
            <a:pPr marL="285750" indent="-28575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collected data undergoes preprocessing, including data cleaning, handling missing values, and removing inconsistencies. </a:t>
            </a:r>
          </a:p>
          <a:p>
            <a:pPr marL="285750" indent="-28575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Feature scaling and normalization are applied to ensure all input features are on a common scale. </a:t>
            </a:r>
          </a:p>
          <a:p>
            <a:pPr marL="285750" indent="-28575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The processed data is then stored and prepared for model training. </a:t>
            </a:r>
          </a:p>
          <a:p>
            <a:pPr marL="285750" indent="-285750" algn="just">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This step ensures high-quality input data, which is essential for accurate model performance. </a:t>
            </a:r>
          </a:p>
          <a:p>
            <a:pPr marL="285750" indent="-285750" algn="just">
              <a:buFont typeface="Courier New" panose="02070309020205020404" pitchFamily="49" charset="0"/>
              <a:buChar char="o"/>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564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D00D344B-B8C9-0215-B394-213150C3233E}"/>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9A326970-688A-73DB-E95B-B276DB4E6C44}"/>
              </a:ext>
            </a:extLst>
          </p:cNvPr>
          <p:cNvSpPr txBox="1"/>
          <p:nvPr/>
        </p:nvSpPr>
        <p:spPr>
          <a:xfrm>
            <a:off x="740323" y="964244"/>
            <a:ext cx="7152599"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Methodology – Model &amp; Prediction</a:t>
            </a:r>
          </a:p>
        </p:txBody>
      </p:sp>
      <p:sp>
        <p:nvSpPr>
          <p:cNvPr id="5" name="Rectangle 1">
            <a:extLst>
              <a:ext uri="{FF2B5EF4-FFF2-40B4-BE49-F238E27FC236}">
                <a16:creationId xmlns:a16="http://schemas.microsoft.com/office/drawing/2014/main" xmlns="" id="{7EFE24EB-584C-9429-ED1A-4CE8AC01B215}"/>
              </a:ext>
            </a:extLst>
          </p:cNvPr>
          <p:cNvSpPr>
            <a:spLocks noChangeArrowheads="1"/>
          </p:cNvSpPr>
          <p:nvPr/>
        </p:nvSpPr>
        <p:spPr bwMode="auto">
          <a:xfrm>
            <a:off x="1047134" y="1679742"/>
            <a:ext cx="926690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preprocessed data is given to the Deep Learning Model, which is the core component of the system.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Deep Neural Network (DNN) is used to learn complex patterns and relationships between input features.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is trained using backpropagation and optimized using the Adam optimizer.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training, the model generates predictions for new input data provided by the user.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latin typeface="Times New Roman" panose="02020603050405020304" pitchFamily="18" charset="0"/>
                <a:cs typeface="Times New Roman" panose="02020603050405020304" pitchFamily="18" charset="0"/>
              </a:rPr>
              <a:t>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hese predictions form the decision output of the system. </a:t>
            </a:r>
          </a:p>
        </p:txBody>
      </p:sp>
    </p:spTree>
    <p:extLst>
      <p:ext uri="{BB962C8B-B14F-4D97-AF65-F5344CB8AC3E}">
        <p14:creationId xmlns:p14="http://schemas.microsoft.com/office/powerpoint/2010/main" val="3090964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F7083BAF-91B6-1A36-C30A-EC16E19BDCEE}"/>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295B4DF4-EAD8-22BE-3C3D-C74985B890DF}"/>
              </a:ext>
            </a:extLst>
          </p:cNvPr>
          <p:cNvSpPr txBox="1"/>
          <p:nvPr/>
        </p:nvSpPr>
        <p:spPr>
          <a:xfrm>
            <a:off x="688258" y="1032387"/>
            <a:ext cx="8084264"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Methodology – Explainability &amp; Output</a:t>
            </a:r>
          </a:p>
        </p:txBody>
      </p:sp>
      <p:sp>
        <p:nvSpPr>
          <p:cNvPr id="5" name="Rectangle 1">
            <a:extLst>
              <a:ext uri="{FF2B5EF4-FFF2-40B4-BE49-F238E27FC236}">
                <a16:creationId xmlns:a16="http://schemas.microsoft.com/office/drawing/2014/main" xmlns="" id="{F96D5691-E0C6-97F7-21E0-8E024B3A29CB}"/>
              </a:ext>
            </a:extLst>
          </p:cNvPr>
          <p:cNvSpPr>
            <a:spLocks noChangeArrowheads="1"/>
          </p:cNvSpPr>
          <p:nvPr/>
        </p:nvSpPr>
        <p:spPr bwMode="auto">
          <a:xfrm rot="10800000" flipV="1">
            <a:off x="1042218" y="1531234"/>
            <a:ext cx="893752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Explainability Module is used to interpret the predictions made by the deep learning model.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Techniques such as SHAP and </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permutation feature importance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are applied to identify the contribution of each feature.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Feature contribution analysis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in understanding how input features influence the final decision.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both prediction results and explanation outputs to the user. </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ensures transparency, improves user trust, and supports ethical and explainable decision-making. </a:t>
            </a:r>
          </a:p>
        </p:txBody>
      </p:sp>
    </p:spTree>
    <p:extLst>
      <p:ext uri="{BB962C8B-B14F-4D97-AF65-F5344CB8AC3E}">
        <p14:creationId xmlns:p14="http://schemas.microsoft.com/office/powerpoint/2010/main" val="3270513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39B16B20-9C7A-1020-B68C-3E3213BAC920}"/>
              </a:ext>
            </a:extLst>
          </p:cNvPr>
          <p:cNvPicPr>
            <a:picLocks noChangeAspect="1"/>
          </p:cNvPicPr>
          <p:nvPr/>
        </p:nvPicPr>
        <p:blipFill>
          <a:blip r:embed="rId2"/>
          <a:stretch>
            <a:fillRect/>
          </a:stretch>
        </p:blipFill>
        <p:spPr>
          <a:xfrm>
            <a:off x="0" y="-49160"/>
            <a:ext cx="12192000" cy="6858000"/>
          </a:xfrm>
          <a:prstGeom prst="rect">
            <a:avLst/>
          </a:prstGeom>
        </p:spPr>
      </p:pic>
      <p:sp>
        <p:nvSpPr>
          <p:cNvPr id="3" name="TextBox 2">
            <a:extLst>
              <a:ext uri="{FF2B5EF4-FFF2-40B4-BE49-F238E27FC236}">
                <a16:creationId xmlns:a16="http://schemas.microsoft.com/office/drawing/2014/main" xmlns="" id="{3F3174ED-1B0B-4BDC-8154-CD5C1B44EBFF}"/>
              </a:ext>
            </a:extLst>
          </p:cNvPr>
          <p:cNvSpPr txBox="1"/>
          <p:nvPr/>
        </p:nvSpPr>
        <p:spPr>
          <a:xfrm>
            <a:off x="547135" y="953132"/>
            <a:ext cx="7957178"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Implementation – Tools &amp; Technologies</a:t>
            </a:r>
          </a:p>
        </p:txBody>
      </p:sp>
      <p:sp>
        <p:nvSpPr>
          <p:cNvPr id="4" name="Rectangle 1">
            <a:extLst>
              <a:ext uri="{FF2B5EF4-FFF2-40B4-BE49-F238E27FC236}">
                <a16:creationId xmlns:a16="http://schemas.microsoft.com/office/drawing/2014/main" xmlns="" id="{A8E0428C-B58A-8F71-1D82-DB44D6152EC0}"/>
              </a:ext>
            </a:extLst>
          </p:cNvPr>
          <p:cNvSpPr>
            <a:spLocks noChangeArrowheads="1"/>
          </p:cNvSpPr>
          <p:nvPr/>
        </p:nvSpPr>
        <p:spPr bwMode="auto">
          <a:xfrm rot="10800000" flipV="1">
            <a:off x="811523" y="1778611"/>
            <a:ext cx="980958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 Python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Frameworks Used: TensorFlow / PyTorch for deep learning model development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Framework: Flask for building the web-based user interface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Explainability Libraries: SHAP and LIME for interpreting model predictions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Processing Libraries: Pandas, NumPy, and Scikit-learn for efficient data handling </a:t>
            </a:r>
          </a:p>
        </p:txBody>
      </p:sp>
    </p:spTree>
    <p:extLst>
      <p:ext uri="{BB962C8B-B14F-4D97-AF65-F5344CB8AC3E}">
        <p14:creationId xmlns:p14="http://schemas.microsoft.com/office/powerpoint/2010/main" val="2103698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8F8B09E3-655D-023A-2C96-615784242A4E}"/>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29D362CE-945A-0C97-C08D-58518C3A3619}"/>
              </a:ext>
            </a:extLst>
          </p:cNvPr>
          <p:cNvSpPr txBox="1"/>
          <p:nvPr/>
        </p:nvSpPr>
        <p:spPr>
          <a:xfrm>
            <a:off x="670892" y="1002892"/>
            <a:ext cx="8439233"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Implementation – Data &amp; Model Training</a:t>
            </a:r>
          </a:p>
        </p:txBody>
      </p:sp>
      <p:sp>
        <p:nvSpPr>
          <p:cNvPr id="5" name="Rectangle 1">
            <a:extLst>
              <a:ext uri="{FF2B5EF4-FFF2-40B4-BE49-F238E27FC236}">
                <a16:creationId xmlns:a16="http://schemas.microsoft.com/office/drawing/2014/main" xmlns="" id="{BBBEB756-E6A8-A160-71D2-988A36ACB807}"/>
              </a:ext>
            </a:extLst>
          </p:cNvPr>
          <p:cNvSpPr>
            <a:spLocks noChangeArrowheads="1"/>
          </p:cNvSpPr>
          <p:nvPr/>
        </p:nvSpPr>
        <p:spPr bwMode="auto">
          <a:xfrm rot="10800000" flipV="1">
            <a:off x="1074088" y="1511570"/>
            <a:ext cx="843923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used: </a:t>
            </a:r>
            <a:r>
              <a:rPr kumimoji="0" lang="en-US" altLang="en-US" sz="20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loan_approval_dataset.csv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collected from Kaggle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includes feature scaling, cleaning, and transformation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Deep Neural Network (DNN) is trained using the processed dataset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 involves learning patterns and relationships between features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is evaluated using performance metrics to ensure accuracy </a:t>
            </a:r>
          </a:p>
        </p:txBody>
      </p:sp>
    </p:spTree>
    <p:extLst>
      <p:ext uri="{BB962C8B-B14F-4D97-AF65-F5344CB8AC3E}">
        <p14:creationId xmlns:p14="http://schemas.microsoft.com/office/powerpoint/2010/main" val="1081485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8A13B2-F97A-AB2A-A5EB-478FA13D38E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xmlns="" id="{73E7967A-9625-79BB-CFB7-34720C133B2D}"/>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9000D05-860E-8575-FC80-E493770EAFCC}"/>
              </a:ext>
            </a:extLst>
          </p:cNvPr>
          <p:cNvSpPr txBox="1"/>
          <p:nvPr/>
        </p:nvSpPr>
        <p:spPr>
          <a:xfrm>
            <a:off x="540774" y="993058"/>
            <a:ext cx="7558479"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Implementation – System Integration</a:t>
            </a:r>
          </a:p>
        </p:txBody>
      </p:sp>
      <p:sp>
        <p:nvSpPr>
          <p:cNvPr id="5" name="Rectangle 1">
            <a:extLst>
              <a:ext uri="{FF2B5EF4-FFF2-40B4-BE49-F238E27FC236}">
                <a16:creationId xmlns:a16="http://schemas.microsoft.com/office/drawing/2014/main" xmlns="" id="{46D685C9-8B35-6874-6BCA-4EB3510BDEC6}"/>
              </a:ext>
            </a:extLst>
          </p:cNvPr>
          <p:cNvSpPr>
            <a:spLocks noChangeArrowheads="1"/>
          </p:cNvSpPr>
          <p:nvPr/>
        </p:nvSpPr>
        <p:spPr bwMode="auto">
          <a:xfrm rot="10800000" flipV="1">
            <a:off x="875070" y="1463780"/>
            <a:ext cx="802312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model is integrated with the explainability module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SHAP and LIME are used to analyze feature importance and decision reasoning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connected to a Flask-based user interface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input data and receive predictions in real time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output includes both prediction results and explanation for better understanding </a:t>
            </a:r>
          </a:p>
        </p:txBody>
      </p:sp>
    </p:spTree>
    <p:extLst>
      <p:ext uri="{BB962C8B-B14F-4D97-AF65-F5344CB8AC3E}">
        <p14:creationId xmlns:p14="http://schemas.microsoft.com/office/powerpoint/2010/main" val="1773740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81B0248-046F-42F7-AB9F-4FA54A80684D}"/>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E6C810A6-8421-3397-B2DB-0E47DAB2BE9D}"/>
              </a:ext>
            </a:extLst>
          </p:cNvPr>
          <p:cNvSpPr txBox="1"/>
          <p:nvPr/>
        </p:nvSpPr>
        <p:spPr>
          <a:xfrm>
            <a:off x="639869" y="1020395"/>
            <a:ext cx="7088672"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Demonstration – System Workflow</a:t>
            </a:r>
          </a:p>
        </p:txBody>
      </p:sp>
      <p:sp>
        <p:nvSpPr>
          <p:cNvPr id="4" name="Rectangle 1">
            <a:extLst>
              <a:ext uri="{FF2B5EF4-FFF2-40B4-BE49-F238E27FC236}">
                <a16:creationId xmlns:a16="http://schemas.microsoft.com/office/drawing/2014/main" xmlns="" id="{B41D7F09-7CDB-D303-7334-B81FF02868BB}"/>
              </a:ext>
            </a:extLst>
          </p:cNvPr>
          <p:cNvSpPr>
            <a:spLocks noChangeArrowheads="1"/>
          </p:cNvSpPr>
          <p:nvPr/>
        </p:nvSpPr>
        <p:spPr bwMode="auto">
          <a:xfrm rot="10800000" flipV="1">
            <a:off x="1150372" y="1431987"/>
            <a:ext cx="840042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demonstration begins with the user interacting with the system through a simple and user-friendly interface.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user enters input details required for the prediction process.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input data is then passed to the preprocessing module for cleaning and transformation.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processed data is forwarded to the trained deep learning model.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step ensures that the system follows a structured flow from input to prediction. </a:t>
            </a:r>
          </a:p>
        </p:txBody>
      </p:sp>
    </p:spTree>
    <p:extLst>
      <p:ext uri="{BB962C8B-B14F-4D97-AF65-F5344CB8AC3E}">
        <p14:creationId xmlns:p14="http://schemas.microsoft.com/office/powerpoint/2010/main" val="2077373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1DE7A6D-932A-21EF-1F08-3F6A0CC900D5}"/>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04952225-2723-37AD-B477-C2947277F36A}"/>
              </a:ext>
            </a:extLst>
          </p:cNvPr>
          <p:cNvSpPr txBox="1"/>
          <p:nvPr/>
        </p:nvSpPr>
        <p:spPr>
          <a:xfrm>
            <a:off x="629265" y="953729"/>
            <a:ext cx="7234032"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Demonstration – Prediction Process</a:t>
            </a:r>
          </a:p>
        </p:txBody>
      </p:sp>
      <p:sp>
        <p:nvSpPr>
          <p:cNvPr id="5" name="Rectangle 1">
            <a:extLst>
              <a:ext uri="{FF2B5EF4-FFF2-40B4-BE49-F238E27FC236}">
                <a16:creationId xmlns:a16="http://schemas.microsoft.com/office/drawing/2014/main" xmlns="" id="{B4A47215-F948-0E77-5E93-1698687E5407}"/>
              </a:ext>
            </a:extLst>
          </p:cNvPr>
          <p:cNvSpPr>
            <a:spLocks noChangeArrowheads="1"/>
          </p:cNvSpPr>
          <p:nvPr/>
        </p:nvSpPr>
        <p:spPr bwMode="auto">
          <a:xfrm rot="10800000" flipV="1">
            <a:off x="1254360" y="1567867"/>
            <a:ext cx="7889639"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trained deep learning model analyzes the input data and generates a prediction.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predictiaon indicates the final decision,</a:t>
            </a:r>
            <a:r>
              <a:rPr kumimoji="0" lang="en-US" altLang="en-US" sz="2000" b="0" i="0" u="none" strike="noStrike" cap="none" normalizeH="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approval or rejection.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ensures that predictions are generated quickly and efficiently.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output is based on patterns learned during the training phase.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step highlights the decision-making capability of the model. </a:t>
            </a:r>
          </a:p>
        </p:txBody>
      </p:sp>
    </p:spTree>
    <p:extLst>
      <p:ext uri="{BB962C8B-B14F-4D97-AF65-F5344CB8AC3E}">
        <p14:creationId xmlns:p14="http://schemas.microsoft.com/office/powerpoint/2010/main" val="2260633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D93C2468-0178-5433-58B7-70DAD2121CFA}"/>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8944BDE6-7684-7ACE-B3F3-F1E0AD158A54}"/>
              </a:ext>
            </a:extLst>
          </p:cNvPr>
          <p:cNvSpPr txBox="1"/>
          <p:nvPr/>
        </p:nvSpPr>
        <p:spPr>
          <a:xfrm>
            <a:off x="540775" y="1052052"/>
            <a:ext cx="8206670"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Demonstration – Explanation &amp; Output</a:t>
            </a:r>
          </a:p>
        </p:txBody>
      </p:sp>
      <p:sp>
        <p:nvSpPr>
          <p:cNvPr id="5" name="Rectangle 1">
            <a:extLst>
              <a:ext uri="{FF2B5EF4-FFF2-40B4-BE49-F238E27FC236}">
                <a16:creationId xmlns:a16="http://schemas.microsoft.com/office/drawing/2014/main" xmlns="" id="{400193A2-17C3-A198-7A67-D3DD778F7825}"/>
              </a:ext>
            </a:extLst>
          </p:cNvPr>
          <p:cNvSpPr>
            <a:spLocks noChangeArrowheads="1"/>
          </p:cNvSpPr>
          <p:nvPr/>
        </p:nvSpPr>
        <p:spPr bwMode="auto">
          <a:xfrm rot="10800000" flipV="1">
            <a:off x="1170036" y="1511570"/>
            <a:ext cx="890802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generating the prediction, the explainability module is activated to interpret the result.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Techniques such as SHAP and </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feature importance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are used to analyze the contribution of each input feature.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displays both the prediction result and graphical explanations.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importance graphs help users understand the reason behind the decision.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improves transparency, builds trust, and makes the system more user-friendly. </a:t>
            </a:r>
          </a:p>
        </p:txBody>
      </p:sp>
    </p:spTree>
    <p:extLst>
      <p:ext uri="{BB962C8B-B14F-4D97-AF65-F5344CB8AC3E}">
        <p14:creationId xmlns:p14="http://schemas.microsoft.com/office/powerpoint/2010/main" val="598675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69539DD8-3EFE-B89E-8E50-1983E44ED17F}"/>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A2799A36-DA04-6DF7-40CD-05122C7C8D28}"/>
              </a:ext>
            </a:extLst>
          </p:cNvPr>
          <p:cNvSpPr txBox="1"/>
          <p:nvPr/>
        </p:nvSpPr>
        <p:spPr>
          <a:xfrm>
            <a:off x="599767" y="934065"/>
            <a:ext cx="4605620"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Testing and Validation</a:t>
            </a:r>
          </a:p>
        </p:txBody>
      </p:sp>
      <p:pic>
        <p:nvPicPr>
          <p:cNvPr id="16" name="Picture 15">
            <a:extLst>
              <a:ext uri="{FF2B5EF4-FFF2-40B4-BE49-F238E27FC236}">
                <a16:creationId xmlns:a16="http://schemas.microsoft.com/office/drawing/2014/main" xmlns="" id="{FE532441-6B70-3893-6529-F15CEBBCEE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9760" y="1506716"/>
            <a:ext cx="5142108" cy="3844567"/>
          </a:xfrm>
          <a:prstGeom prst="rect">
            <a:avLst/>
          </a:prstGeom>
        </p:spPr>
      </p:pic>
      <p:sp>
        <p:nvSpPr>
          <p:cNvPr id="5" name="Rectangle 1">
            <a:extLst>
              <a:ext uri="{FF2B5EF4-FFF2-40B4-BE49-F238E27FC236}">
                <a16:creationId xmlns:a16="http://schemas.microsoft.com/office/drawing/2014/main" xmlns="" id="{E3CDB409-8297-F301-6A8F-AFA9A7D01D37}"/>
              </a:ext>
            </a:extLst>
          </p:cNvPr>
          <p:cNvSpPr>
            <a:spLocks noChangeArrowheads="1"/>
          </p:cNvSpPr>
          <p:nvPr/>
        </p:nvSpPr>
        <p:spPr bwMode="auto">
          <a:xfrm rot="10800000" flipV="1">
            <a:off x="927110" y="1536174"/>
            <a:ext cx="538698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confusion matrix is used to evaluate the classification performance of the model.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shows correct and incorrect predictions in terms of true positives, true negatives, false positives, and false negatives.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higher number of correct predictions indicates better model accuracy.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Lower misclassification values show that the model performs well on unseen data.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analysis helps in understanding the strengths and weaknesses of the model. </a:t>
            </a:r>
          </a:p>
        </p:txBody>
      </p:sp>
      <p:sp>
        <p:nvSpPr>
          <p:cNvPr id="6" name="TextBox 5">
            <a:extLst>
              <a:ext uri="{FF2B5EF4-FFF2-40B4-BE49-F238E27FC236}">
                <a16:creationId xmlns:a16="http://schemas.microsoft.com/office/drawing/2014/main" xmlns="" id="{2D9508E8-8DEB-506F-08E7-C79553FF5AAA}"/>
              </a:ext>
            </a:extLst>
          </p:cNvPr>
          <p:cNvSpPr txBox="1"/>
          <p:nvPr/>
        </p:nvSpPr>
        <p:spPr>
          <a:xfrm>
            <a:off x="7767373" y="5321827"/>
            <a:ext cx="2646878" cy="400110"/>
          </a:xfrm>
          <a:prstGeom prst="rect">
            <a:avLst/>
          </a:prstGeom>
          <a:noFill/>
        </p:spPr>
        <p:txBody>
          <a:bodyPr wrap="none" rtlCol="0">
            <a:spAutoFit/>
          </a:bodyPr>
          <a:lstStyle/>
          <a:p>
            <a:pPr algn="just"/>
            <a:r>
              <a:rPr lang="en-IN" sz="2000" b="1" dirty="0">
                <a:latin typeface="Times New Roman" panose="02020603050405020304" pitchFamily="18" charset="0"/>
                <a:cs typeface="Times New Roman" panose="02020603050405020304" pitchFamily="18" charset="0"/>
              </a:rPr>
              <a:t>Fig:Confusion Matrix </a:t>
            </a:r>
          </a:p>
        </p:txBody>
      </p:sp>
    </p:spTree>
    <p:extLst>
      <p:ext uri="{BB962C8B-B14F-4D97-AF65-F5344CB8AC3E}">
        <p14:creationId xmlns:p14="http://schemas.microsoft.com/office/powerpoint/2010/main" val="363547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FF0C8B26-2781-9994-CD0A-42F7D964983B}"/>
              </a:ext>
            </a:extLst>
          </p:cNvPr>
          <p:cNvPicPr>
            <a:picLocks noChangeAspect="1"/>
          </p:cNvPicPr>
          <p:nvPr/>
        </p:nvPicPr>
        <p:blipFill>
          <a:blip r:embed="rId2"/>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xmlns="" id="{1337C4E0-B9A5-1AD8-B5AC-1931ACE20E98}"/>
              </a:ext>
            </a:extLst>
          </p:cNvPr>
          <p:cNvPicPr>
            <a:picLocks noChangeAspect="1"/>
          </p:cNvPicPr>
          <p:nvPr/>
        </p:nvPicPr>
        <p:blipFill>
          <a:blip r:embed="rId3"/>
          <a:stretch>
            <a:fillRect/>
          </a:stretch>
        </p:blipFill>
        <p:spPr>
          <a:xfrm>
            <a:off x="6699018" y="1506716"/>
            <a:ext cx="5082421" cy="3844567"/>
          </a:xfrm>
          <a:prstGeom prst="rect">
            <a:avLst/>
          </a:prstGeom>
        </p:spPr>
      </p:pic>
      <p:sp>
        <p:nvSpPr>
          <p:cNvPr id="5" name="TextBox 4">
            <a:extLst>
              <a:ext uri="{FF2B5EF4-FFF2-40B4-BE49-F238E27FC236}">
                <a16:creationId xmlns:a16="http://schemas.microsoft.com/office/drawing/2014/main" xmlns="" id="{C6AB3832-57C8-B143-78AF-32F90CD5F7DE}"/>
              </a:ext>
            </a:extLst>
          </p:cNvPr>
          <p:cNvSpPr txBox="1"/>
          <p:nvPr/>
        </p:nvSpPr>
        <p:spPr>
          <a:xfrm>
            <a:off x="6795859" y="5351283"/>
            <a:ext cx="4901406" cy="400110"/>
          </a:xfrm>
          <a:prstGeom prst="rect">
            <a:avLst/>
          </a:prstGeom>
          <a:noFill/>
        </p:spPr>
        <p:txBody>
          <a:bodyPr wrap="none" rtlCol="0">
            <a:spAutoFit/>
          </a:bodyPr>
          <a:lstStyle/>
          <a:p>
            <a:pPr algn="just"/>
            <a:r>
              <a:rPr lang="en-IN" sz="2000" b="1" dirty="0">
                <a:latin typeface="Times New Roman" panose="02020603050405020304" pitchFamily="18" charset="0"/>
                <a:cs typeface="Times New Roman" panose="02020603050405020304" pitchFamily="18" charset="0"/>
              </a:rPr>
              <a:t>Fig:Model Performance Validation Metrics</a:t>
            </a:r>
          </a:p>
        </p:txBody>
      </p:sp>
      <p:sp>
        <p:nvSpPr>
          <p:cNvPr id="7" name="Rectangle 1">
            <a:extLst>
              <a:ext uri="{FF2B5EF4-FFF2-40B4-BE49-F238E27FC236}">
                <a16:creationId xmlns:a16="http://schemas.microsoft.com/office/drawing/2014/main" xmlns="" id="{216EF0D9-BCAE-71C8-405B-A6184B9C43B3}"/>
              </a:ext>
            </a:extLst>
          </p:cNvPr>
          <p:cNvSpPr>
            <a:spLocks noChangeArrowheads="1"/>
          </p:cNvSpPr>
          <p:nvPr/>
        </p:nvSpPr>
        <p:spPr bwMode="auto">
          <a:xfrm rot="10800000" flipV="1">
            <a:off x="656884" y="1506716"/>
            <a:ext cx="573408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training graph shows the variation of accuracy and loss during the model training process.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increases gradually with epochs, indicating that the model is learning effectively.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Loss decreases over time, showing that prediction errors are reducing.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Stable curves indicate that the model is well-trained without overfitting or underfitting.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validates that the model achieves good learning performance. </a:t>
            </a:r>
          </a:p>
        </p:txBody>
      </p:sp>
    </p:spTree>
    <p:extLst>
      <p:ext uri="{BB962C8B-B14F-4D97-AF65-F5344CB8AC3E}">
        <p14:creationId xmlns:p14="http://schemas.microsoft.com/office/powerpoint/2010/main" val="86516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188AD880-2E38-63B2-4991-85E1949FF59A}"/>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A88BB05A-2AFB-11B9-9915-7FF931B4209B}"/>
              </a:ext>
            </a:extLst>
          </p:cNvPr>
          <p:cNvSpPr txBox="1"/>
          <p:nvPr/>
        </p:nvSpPr>
        <p:spPr>
          <a:xfrm>
            <a:off x="452285" y="235974"/>
            <a:ext cx="3241272" cy="646331"/>
          </a:xfrm>
          <a:prstGeom prst="rect">
            <a:avLst/>
          </a:prstGeom>
          <a:noFill/>
        </p:spPr>
        <p:txBody>
          <a:bodyPr wrap="none" rtlCol="0">
            <a:spAutoFit/>
          </a:bodyPr>
          <a:lstStyle/>
          <a:p>
            <a:r>
              <a:rPr lang="en-IN" sz="3600" b="1" dirty="0">
                <a:latin typeface="Times New Roman" panose="02020603050405020304" pitchFamily="18" charset="0"/>
                <a:cs typeface="Times New Roman" panose="02020603050405020304" pitchFamily="18" charset="0"/>
              </a:rPr>
              <a:t>Output Screens</a:t>
            </a:r>
          </a:p>
        </p:txBody>
      </p:sp>
      <p:pic>
        <p:nvPicPr>
          <p:cNvPr id="6" name="Picture 5">
            <a:extLst>
              <a:ext uri="{FF2B5EF4-FFF2-40B4-BE49-F238E27FC236}">
                <a16:creationId xmlns:a16="http://schemas.microsoft.com/office/drawing/2014/main" xmlns="" id="{85D3734B-C8E0-CFA9-5260-9CB4368BEA21}"/>
              </a:ext>
            </a:extLst>
          </p:cNvPr>
          <p:cNvPicPr>
            <a:picLocks noChangeAspect="1"/>
          </p:cNvPicPr>
          <p:nvPr/>
        </p:nvPicPr>
        <p:blipFill>
          <a:blip r:embed="rId3"/>
          <a:stretch>
            <a:fillRect/>
          </a:stretch>
        </p:blipFill>
        <p:spPr>
          <a:xfrm>
            <a:off x="894735" y="882305"/>
            <a:ext cx="10569677" cy="5616818"/>
          </a:xfrm>
          <a:prstGeom prst="rect">
            <a:avLst/>
          </a:prstGeom>
        </p:spPr>
      </p:pic>
      <p:sp>
        <p:nvSpPr>
          <p:cNvPr id="7" name="TextBox 6">
            <a:extLst>
              <a:ext uri="{FF2B5EF4-FFF2-40B4-BE49-F238E27FC236}">
                <a16:creationId xmlns:a16="http://schemas.microsoft.com/office/drawing/2014/main" xmlns="" id="{90223FF5-D7BD-A0E5-D70A-D7B0F7C9A282}"/>
              </a:ext>
            </a:extLst>
          </p:cNvPr>
          <p:cNvSpPr txBox="1"/>
          <p:nvPr/>
        </p:nvSpPr>
        <p:spPr>
          <a:xfrm>
            <a:off x="4837471" y="6478507"/>
            <a:ext cx="2142190" cy="400110"/>
          </a:xfrm>
          <a:prstGeom prst="rect">
            <a:avLst/>
          </a:prstGeom>
          <a:noFill/>
        </p:spPr>
        <p:txBody>
          <a:bodyPr wrap="none" rtlCol="0">
            <a:spAutoFit/>
          </a:bodyPr>
          <a:lstStyle/>
          <a:p>
            <a:pPr algn="just"/>
            <a:r>
              <a:rPr lang="en-IN" sz="2000" dirty="0">
                <a:latin typeface="Times New Roman" panose="02020603050405020304" pitchFamily="18" charset="0"/>
                <a:cs typeface="Times New Roman" panose="02020603050405020304" pitchFamily="18" charset="0"/>
              </a:rPr>
              <a:t>Fig:Loan Approval</a:t>
            </a:r>
          </a:p>
        </p:txBody>
      </p:sp>
    </p:spTree>
    <p:extLst>
      <p:ext uri="{BB962C8B-B14F-4D97-AF65-F5344CB8AC3E}">
        <p14:creationId xmlns:p14="http://schemas.microsoft.com/office/powerpoint/2010/main" val="361623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F95F680-EA86-ED6B-370A-F14CC4A9B83A}"/>
              </a:ext>
            </a:extLst>
          </p:cNvPr>
          <p:cNvPicPr>
            <a:picLocks noChangeAspect="1"/>
          </p:cNvPicPr>
          <p:nvPr/>
        </p:nvPicPr>
        <p:blipFill>
          <a:blip r:embed="rId2"/>
          <a:stretch>
            <a:fillRect/>
          </a:stretch>
        </p:blipFill>
        <p:spPr>
          <a:xfrm>
            <a:off x="0" y="0"/>
            <a:ext cx="12192000" cy="6858000"/>
          </a:xfrm>
          <a:prstGeom prst="rect">
            <a:avLst/>
          </a:prstGeom>
        </p:spPr>
      </p:pic>
      <p:pic>
        <p:nvPicPr>
          <p:cNvPr id="10" name="Picture 9">
            <a:extLst>
              <a:ext uri="{FF2B5EF4-FFF2-40B4-BE49-F238E27FC236}">
                <a16:creationId xmlns:a16="http://schemas.microsoft.com/office/drawing/2014/main" xmlns="" id="{E950AD7D-1522-DFDB-2DC1-570C3038101B}"/>
              </a:ext>
            </a:extLst>
          </p:cNvPr>
          <p:cNvPicPr>
            <a:picLocks noChangeAspect="1"/>
          </p:cNvPicPr>
          <p:nvPr/>
        </p:nvPicPr>
        <p:blipFill>
          <a:blip r:embed="rId3"/>
          <a:stretch>
            <a:fillRect/>
          </a:stretch>
        </p:blipFill>
        <p:spPr>
          <a:xfrm>
            <a:off x="712838" y="372815"/>
            <a:ext cx="10766323" cy="6112369"/>
          </a:xfrm>
          <a:prstGeom prst="rect">
            <a:avLst/>
          </a:prstGeom>
        </p:spPr>
      </p:pic>
      <p:sp>
        <p:nvSpPr>
          <p:cNvPr id="11" name="TextBox 10">
            <a:extLst>
              <a:ext uri="{FF2B5EF4-FFF2-40B4-BE49-F238E27FC236}">
                <a16:creationId xmlns:a16="http://schemas.microsoft.com/office/drawing/2014/main" xmlns="" id="{64EEFED0-E248-562A-33E2-7B0EDEFBF14E}"/>
              </a:ext>
            </a:extLst>
          </p:cNvPr>
          <p:cNvSpPr txBox="1"/>
          <p:nvPr/>
        </p:nvSpPr>
        <p:spPr>
          <a:xfrm>
            <a:off x="5437239" y="6471537"/>
            <a:ext cx="2222019" cy="400110"/>
          </a:xfrm>
          <a:prstGeom prst="rect">
            <a:avLst/>
          </a:prstGeom>
          <a:noFill/>
        </p:spPr>
        <p:txBody>
          <a:bodyPr wrap="none" rtlCol="0">
            <a:spAutoFit/>
          </a:bodyPr>
          <a:lstStyle/>
          <a:p>
            <a:pPr algn="just"/>
            <a:r>
              <a:rPr lang="en-IN" sz="2000" dirty="0">
                <a:latin typeface="Times New Roman" panose="02020603050405020304" pitchFamily="18" charset="0"/>
                <a:cs typeface="Times New Roman" panose="02020603050405020304" pitchFamily="18" charset="0"/>
              </a:rPr>
              <a:t>Fig:Loan Rejection</a:t>
            </a:r>
          </a:p>
        </p:txBody>
      </p:sp>
    </p:spTree>
    <p:extLst>
      <p:ext uri="{BB962C8B-B14F-4D97-AF65-F5344CB8AC3E}">
        <p14:creationId xmlns:p14="http://schemas.microsoft.com/office/powerpoint/2010/main" val="1035597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BF71653A-303A-398C-F9B8-5E75B3593D1F}"/>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xmlns="" id="{BB153C78-05E5-09EA-8F17-FA6D8B96B18D}"/>
              </a:ext>
            </a:extLst>
          </p:cNvPr>
          <p:cNvSpPr txBox="1"/>
          <p:nvPr/>
        </p:nvSpPr>
        <p:spPr>
          <a:xfrm>
            <a:off x="884903" y="1052052"/>
            <a:ext cx="2390398" cy="646331"/>
          </a:xfrm>
          <a:prstGeom prst="rect">
            <a:avLst/>
          </a:prstGeom>
          <a:noFill/>
        </p:spPr>
        <p:txBody>
          <a:bodyPr wrap="none" rtlCol="0">
            <a:spAutoFit/>
          </a:bodyPr>
          <a:lstStyle/>
          <a:p>
            <a:pPr algn="just"/>
            <a:r>
              <a:rPr lang="en-IN" sz="3600" b="1"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xmlns="" id="{C269742F-CC57-A254-6501-178E68B6240E}"/>
              </a:ext>
            </a:extLst>
          </p:cNvPr>
          <p:cNvSpPr txBox="1"/>
          <p:nvPr/>
        </p:nvSpPr>
        <p:spPr>
          <a:xfrm>
            <a:off x="1406014" y="1997839"/>
            <a:ext cx="9842089" cy="2862322"/>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project successfully implements an explainable deep learning–based decision support system that addresses the limitations of traditional black-box models. By integrating a deep neural network with explainability techniques feature importance analysis, the system is able to provide both accurate predictions and clear insights into how decisions are made. This improves transparency, builds user trust, and supports ethical decision-making. The system also demonstrates effective data preprocessing, model training, and performance evaluation using standard metrics. Overall, the proposed approach achieves a good balance between accuracy and interpretability, making it suitable for real-world applications where understanding the reasoning behind decisions is essential.</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001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07DEEF0D-E945-E681-8CD0-6DFEEBF2C3EC}"/>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4281A3E1-CEA0-B98F-1800-762510EFDBB9}"/>
              </a:ext>
            </a:extLst>
          </p:cNvPr>
          <p:cNvSpPr txBox="1"/>
          <p:nvPr/>
        </p:nvSpPr>
        <p:spPr>
          <a:xfrm>
            <a:off x="3421710" y="2875002"/>
            <a:ext cx="5348580" cy="1107996"/>
          </a:xfrm>
          <a:prstGeom prst="rect">
            <a:avLst/>
          </a:prstGeom>
          <a:noFill/>
        </p:spPr>
        <p:txBody>
          <a:bodyPr wrap="none" rtlCol="0">
            <a:spAutoFit/>
          </a:bodyPr>
          <a:lstStyle/>
          <a:p>
            <a:pPr algn="just"/>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973818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3675267F-6ECD-E208-92AA-79A494544DAA}"/>
              </a:ext>
            </a:extLst>
          </p:cNvPr>
          <p:cNvPicPr>
            <a:picLocks noChangeAspect="1"/>
          </p:cNvPicPr>
          <p:nvPr/>
        </p:nvPicPr>
        <p:blipFill>
          <a:blip r:embed="rId2"/>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591AC752-24A2-F766-4932-C0B330771B6F}"/>
              </a:ext>
            </a:extLst>
          </p:cNvPr>
          <p:cNvSpPr txBox="1"/>
          <p:nvPr/>
        </p:nvSpPr>
        <p:spPr>
          <a:xfrm>
            <a:off x="2881498" y="2875002"/>
            <a:ext cx="6429004" cy="1107996"/>
          </a:xfrm>
          <a:prstGeom prst="rect">
            <a:avLst/>
          </a:prstGeom>
          <a:noFill/>
        </p:spPr>
        <p:txBody>
          <a:bodyPr wrap="none" rtlCol="0">
            <a:spAutoFit/>
          </a:bodyPr>
          <a:lstStyle/>
          <a:p>
            <a:pPr algn="just"/>
            <a:r>
              <a:rPr lang="en-IN" sz="6600" b="1" dirty="0">
                <a:latin typeface="Times New Roman" panose="02020603050405020304" pitchFamily="18" charset="0"/>
                <a:cs typeface="Times New Roman" panose="02020603050405020304" pitchFamily="18" charset="0"/>
              </a:rPr>
              <a:t>ANY QUERIES?</a:t>
            </a:r>
          </a:p>
        </p:txBody>
      </p:sp>
    </p:spTree>
    <p:extLst>
      <p:ext uri="{BB962C8B-B14F-4D97-AF65-F5344CB8AC3E}">
        <p14:creationId xmlns:p14="http://schemas.microsoft.com/office/powerpoint/2010/main" val="3300575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561</TotalTime>
  <Words>1240</Words>
  <Application>Microsoft Office PowerPoint</Application>
  <PresentationFormat>Widescreen</PresentationFormat>
  <Paragraphs>170</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Aptos Display</vt:lpstr>
      <vt:lpstr>Arial</vt:lpstr>
      <vt:lpstr>Calibri</vt:lpstr>
      <vt:lpstr>Courier New</vt:lpstr>
      <vt:lpstr>Poppins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Bhavya sri Tamarana</dc:creator>
  <cp:lastModifiedBy>Lenovo</cp:lastModifiedBy>
  <cp:revision>52</cp:revision>
  <dcterms:created xsi:type="dcterms:W3CDTF">2026-02-21T05:28:44Z</dcterms:created>
  <dcterms:modified xsi:type="dcterms:W3CDTF">2026-05-25T05:25:41Z</dcterms:modified>
</cp:coreProperties>
</file>